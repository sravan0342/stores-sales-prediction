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9"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7" r:id="rId17"/>
    <p:sldId id="281" r:id="rId18"/>
    <p:sldId id="272" r:id="rId19"/>
    <p:sldId id="273" r:id="rId20"/>
    <p:sldId id="278" r:id="rId21"/>
    <p:sldId id="279" r:id="rId22"/>
    <p:sldId id="275" r:id="rId23"/>
    <p:sldId id="28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nukesh b" userId="efe73dfbc83a0405" providerId="LiveId" clId="{B6CD2191-B4D5-4E00-9B22-AC5A69FA9031}"/>
    <pc:docChg chg="custSel addSld modSld">
      <pc:chgData name="bhanukesh b" userId="efe73dfbc83a0405" providerId="LiveId" clId="{B6CD2191-B4D5-4E00-9B22-AC5A69FA9031}" dt="2023-05-01T17:40:09.613" v="522" actId="1076"/>
      <pc:docMkLst>
        <pc:docMk/>
      </pc:docMkLst>
      <pc:sldChg chg="modSp mod">
        <pc:chgData name="bhanukesh b" userId="efe73dfbc83a0405" providerId="LiveId" clId="{B6CD2191-B4D5-4E00-9B22-AC5A69FA9031}" dt="2023-05-01T17:21:01.158" v="486" actId="14100"/>
        <pc:sldMkLst>
          <pc:docMk/>
          <pc:sldMk cId="196158451" sldId="259"/>
        </pc:sldMkLst>
        <pc:spChg chg="mod">
          <ac:chgData name="bhanukesh b" userId="efe73dfbc83a0405" providerId="LiveId" clId="{B6CD2191-B4D5-4E00-9B22-AC5A69FA9031}" dt="2023-05-01T17:21:01.158" v="486" actId="14100"/>
          <ac:spMkLst>
            <pc:docMk/>
            <pc:sldMk cId="196158451" sldId="259"/>
            <ac:spMk id="3" creationId="{B2EDFF5B-0400-6739-1376-F97979CBD70E}"/>
          </ac:spMkLst>
        </pc:spChg>
      </pc:sldChg>
      <pc:sldChg chg="modSp mod">
        <pc:chgData name="bhanukesh b" userId="efe73dfbc83a0405" providerId="LiveId" clId="{B6CD2191-B4D5-4E00-9B22-AC5A69FA9031}" dt="2023-05-01T17:21:11.331" v="487" actId="14100"/>
        <pc:sldMkLst>
          <pc:docMk/>
          <pc:sldMk cId="1707565985" sldId="275"/>
        </pc:sldMkLst>
        <pc:spChg chg="mod">
          <ac:chgData name="bhanukesh b" userId="efe73dfbc83a0405" providerId="LiveId" clId="{B6CD2191-B4D5-4E00-9B22-AC5A69FA9031}" dt="2023-05-01T17:21:11.331" v="487" actId="14100"/>
          <ac:spMkLst>
            <pc:docMk/>
            <pc:sldMk cId="1707565985" sldId="275"/>
            <ac:spMk id="6" creationId="{A9C0EFEC-3B95-081E-FED2-1C79CEB40DC1}"/>
          </ac:spMkLst>
        </pc:spChg>
      </pc:sldChg>
      <pc:sldChg chg="addSp delSp modSp new mod modClrScheme chgLayout">
        <pc:chgData name="bhanukesh b" userId="efe73dfbc83a0405" providerId="LiveId" clId="{B6CD2191-B4D5-4E00-9B22-AC5A69FA9031}" dt="2023-05-01T17:38:57.970" v="508" actId="14100"/>
        <pc:sldMkLst>
          <pc:docMk/>
          <pc:sldMk cId="365271336" sldId="278"/>
        </pc:sldMkLst>
        <pc:spChg chg="del">
          <ac:chgData name="bhanukesh b" userId="efe73dfbc83a0405" providerId="LiveId" clId="{B6CD2191-B4D5-4E00-9B22-AC5A69FA9031}" dt="2023-05-01T17:36:43.902" v="489" actId="700"/>
          <ac:spMkLst>
            <pc:docMk/>
            <pc:sldMk cId="365271336" sldId="278"/>
            <ac:spMk id="2" creationId="{DD95E63A-D1B7-5DD4-030E-A24A275667B8}"/>
          </ac:spMkLst>
        </pc:spChg>
        <pc:spChg chg="del">
          <ac:chgData name="bhanukesh b" userId="efe73dfbc83a0405" providerId="LiveId" clId="{B6CD2191-B4D5-4E00-9B22-AC5A69FA9031}" dt="2023-05-01T17:36:43.902" v="489" actId="700"/>
          <ac:spMkLst>
            <pc:docMk/>
            <pc:sldMk cId="365271336" sldId="278"/>
            <ac:spMk id="3" creationId="{F51B2561-82AC-AF47-6395-90349C1390EB}"/>
          </ac:spMkLst>
        </pc:spChg>
        <pc:spChg chg="del">
          <ac:chgData name="bhanukesh b" userId="efe73dfbc83a0405" providerId="LiveId" clId="{B6CD2191-B4D5-4E00-9B22-AC5A69FA9031}" dt="2023-05-01T17:36:43.902" v="489" actId="700"/>
          <ac:spMkLst>
            <pc:docMk/>
            <pc:sldMk cId="365271336" sldId="278"/>
            <ac:spMk id="4" creationId="{81D5320A-C3E7-D809-6F6D-5CF1B89BA8FC}"/>
          </ac:spMkLst>
        </pc:spChg>
        <pc:picChg chg="add del mod">
          <ac:chgData name="bhanukesh b" userId="efe73dfbc83a0405" providerId="LiveId" clId="{B6CD2191-B4D5-4E00-9B22-AC5A69FA9031}" dt="2023-05-01T17:38:13.017" v="497" actId="478"/>
          <ac:picMkLst>
            <pc:docMk/>
            <pc:sldMk cId="365271336" sldId="278"/>
            <ac:picMk id="5" creationId="{99301947-0EBC-2267-AB67-6E657D0CD496}"/>
          </ac:picMkLst>
        </pc:picChg>
        <pc:picChg chg="add mod">
          <ac:chgData name="bhanukesh b" userId="efe73dfbc83a0405" providerId="LiveId" clId="{B6CD2191-B4D5-4E00-9B22-AC5A69FA9031}" dt="2023-05-01T17:38:49.149" v="505" actId="14100"/>
          <ac:picMkLst>
            <pc:docMk/>
            <pc:sldMk cId="365271336" sldId="278"/>
            <ac:picMk id="6" creationId="{A35D2E32-CC25-C2E9-53C7-29617394D2F4}"/>
          </ac:picMkLst>
        </pc:picChg>
        <pc:picChg chg="add mod">
          <ac:chgData name="bhanukesh b" userId="efe73dfbc83a0405" providerId="LiveId" clId="{B6CD2191-B4D5-4E00-9B22-AC5A69FA9031}" dt="2023-05-01T17:38:57.970" v="508" actId="14100"/>
          <ac:picMkLst>
            <pc:docMk/>
            <pc:sldMk cId="365271336" sldId="278"/>
            <ac:picMk id="7" creationId="{32514C8A-3A22-AE47-D9D8-B2BCCF9574FC}"/>
          </ac:picMkLst>
        </pc:picChg>
      </pc:sldChg>
      <pc:sldChg chg="addSp modSp new mod">
        <pc:chgData name="bhanukesh b" userId="efe73dfbc83a0405" providerId="LiveId" clId="{B6CD2191-B4D5-4E00-9B22-AC5A69FA9031}" dt="2023-05-01T17:40:09.613" v="522" actId="1076"/>
        <pc:sldMkLst>
          <pc:docMk/>
          <pc:sldMk cId="1599111270" sldId="279"/>
        </pc:sldMkLst>
        <pc:picChg chg="add mod">
          <ac:chgData name="bhanukesh b" userId="efe73dfbc83a0405" providerId="LiveId" clId="{B6CD2191-B4D5-4E00-9B22-AC5A69FA9031}" dt="2023-05-01T17:39:33.165" v="516" actId="14100"/>
          <ac:picMkLst>
            <pc:docMk/>
            <pc:sldMk cId="1599111270" sldId="279"/>
            <ac:picMk id="2" creationId="{A0CE9DBF-9B0D-B072-26FA-D255E4D9CD1C}"/>
          </ac:picMkLst>
        </pc:picChg>
        <pc:picChg chg="add mod">
          <ac:chgData name="bhanukesh b" userId="efe73dfbc83a0405" providerId="LiveId" clId="{B6CD2191-B4D5-4E00-9B22-AC5A69FA9031}" dt="2023-05-01T17:40:09.613" v="522" actId="1076"/>
          <ac:picMkLst>
            <pc:docMk/>
            <pc:sldMk cId="1599111270" sldId="279"/>
            <ac:picMk id="3" creationId="{FCC79B03-2415-5461-CD5E-F97DBD8085BE}"/>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6E1F6B-656D-4FFD-A5BF-99D9687D13CA}"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ECE961BA-F31D-437C-8149-6656F80DA7BD}">
      <dgm:prSet/>
      <dgm:spPr/>
      <dgm:t>
        <a:bodyPr/>
        <a:lstStyle/>
        <a:p>
          <a:r>
            <a:rPr lang="en-IN"/>
            <a:t>We cleaned the dataset and named it as store_cleaned_2</a:t>
          </a:r>
          <a:endParaRPr lang="en-US"/>
        </a:p>
      </dgm:t>
    </dgm:pt>
    <dgm:pt modelId="{FEBA3D34-4600-4EA7-8958-D2A140E4E4C0}" type="parTrans" cxnId="{AC0ADC22-A91E-4874-BD79-AA676EE1190D}">
      <dgm:prSet/>
      <dgm:spPr/>
      <dgm:t>
        <a:bodyPr/>
        <a:lstStyle/>
        <a:p>
          <a:endParaRPr lang="en-US"/>
        </a:p>
      </dgm:t>
    </dgm:pt>
    <dgm:pt modelId="{52FE6719-DC5B-434F-8ECF-9B2D423DFE8C}" type="sibTrans" cxnId="{AC0ADC22-A91E-4874-BD79-AA676EE1190D}">
      <dgm:prSet/>
      <dgm:spPr/>
      <dgm:t>
        <a:bodyPr/>
        <a:lstStyle/>
        <a:p>
          <a:endParaRPr lang="en-US"/>
        </a:p>
      </dgm:t>
    </dgm:pt>
    <dgm:pt modelId="{E5715712-A0C0-46BB-9F80-68C9D0B4FAAF}">
      <dgm:prSet/>
      <dgm:spPr/>
      <dgm:t>
        <a:bodyPr/>
        <a:lstStyle/>
        <a:p>
          <a:r>
            <a:rPr lang="en-IN"/>
            <a:t>Further, summary, str, class, head and tail command on the cleaned dataset (store_cleaned_2); summary command is used to describe the 1st 2nd 3rd quartile along with upper and lower whiskers, str command is used to check what are the datatypes of the variables, class command tells us the datatype (dataframe), head command is used to get the glimpse of first 5 rows with all columns and tail command is used to get the glimpse of last 5 rows with all columns.</a:t>
          </a:r>
          <a:endParaRPr lang="en-US"/>
        </a:p>
      </dgm:t>
    </dgm:pt>
    <dgm:pt modelId="{68464383-071A-418F-B09D-4BDE8A762A97}" type="parTrans" cxnId="{E3CFE63F-0DBA-4502-A074-D1C738C1CC9F}">
      <dgm:prSet/>
      <dgm:spPr/>
      <dgm:t>
        <a:bodyPr/>
        <a:lstStyle/>
        <a:p>
          <a:endParaRPr lang="en-US"/>
        </a:p>
      </dgm:t>
    </dgm:pt>
    <dgm:pt modelId="{FF3C21C3-E7AC-4A48-8F04-039DB6D42089}" type="sibTrans" cxnId="{E3CFE63F-0DBA-4502-A074-D1C738C1CC9F}">
      <dgm:prSet/>
      <dgm:spPr/>
      <dgm:t>
        <a:bodyPr/>
        <a:lstStyle/>
        <a:p>
          <a:endParaRPr lang="en-US"/>
        </a:p>
      </dgm:t>
    </dgm:pt>
    <dgm:pt modelId="{7530BC53-DB7B-423F-8F7B-5DA2902014D2}" type="pres">
      <dgm:prSet presAssocID="{886E1F6B-656D-4FFD-A5BF-99D9687D13CA}" presName="Name0" presStyleCnt="0">
        <dgm:presLayoutVars>
          <dgm:dir/>
          <dgm:animLvl val="lvl"/>
          <dgm:resizeHandles val="exact"/>
        </dgm:presLayoutVars>
      </dgm:prSet>
      <dgm:spPr/>
    </dgm:pt>
    <dgm:pt modelId="{F49488F9-1F17-4D72-A9FF-E09BD717F149}" type="pres">
      <dgm:prSet presAssocID="{E5715712-A0C0-46BB-9F80-68C9D0B4FAAF}" presName="boxAndChildren" presStyleCnt="0"/>
      <dgm:spPr/>
    </dgm:pt>
    <dgm:pt modelId="{CDB13A93-9A14-4DBB-9B63-AD2C2B726E6A}" type="pres">
      <dgm:prSet presAssocID="{E5715712-A0C0-46BB-9F80-68C9D0B4FAAF}" presName="parentTextBox" presStyleLbl="node1" presStyleIdx="0" presStyleCnt="2"/>
      <dgm:spPr/>
    </dgm:pt>
    <dgm:pt modelId="{781B3349-7880-407E-9D0F-FBD3A677FB2B}" type="pres">
      <dgm:prSet presAssocID="{52FE6719-DC5B-434F-8ECF-9B2D423DFE8C}" presName="sp" presStyleCnt="0"/>
      <dgm:spPr/>
    </dgm:pt>
    <dgm:pt modelId="{BA0C8001-B340-49A5-B2C7-53677CDD0133}" type="pres">
      <dgm:prSet presAssocID="{ECE961BA-F31D-437C-8149-6656F80DA7BD}" presName="arrowAndChildren" presStyleCnt="0"/>
      <dgm:spPr/>
    </dgm:pt>
    <dgm:pt modelId="{F9FD857D-FDBA-4688-89A6-5AA30DA2D088}" type="pres">
      <dgm:prSet presAssocID="{ECE961BA-F31D-437C-8149-6656F80DA7BD}" presName="parentTextArrow" presStyleLbl="node1" presStyleIdx="1" presStyleCnt="2"/>
      <dgm:spPr/>
    </dgm:pt>
  </dgm:ptLst>
  <dgm:cxnLst>
    <dgm:cxn modelId="{0B82BE00-6637-43AC-A309-4EA1F6529923}" type="presOf" srcId="{ECE961BA-F31D-437C-8149-6656F80DA7BD}" destId="{F9FD857D-FDBA-4688-89A6-5AA30DA2D088}" srcOrd="0" destOrd="0" presId="urn:microsoft.com/office/officeart/2005/8/layout/process4"/>
    <dgm:cxn modelId="{AC0ADC22-A91E-4874-BD79-AA676EE1190D}" srcId="{886E1F6B-656D-4FFD-A5BF-99D9687D13CA}" destId="{ECE961BA-F31D-437C-8149-6656F80DA7BD}" srcOrd="0" destOrd="0" parTransId="{FEBA3D34-4600-4EA7-8958-D2A140E4E4C0}" sibTransId="{52FE6719-DC5B-434F-8ECF-9B2D423DFE8C}"/>
    <dgm:cxn modelId="{E3CFE63F-0DBA-4502-A074-D1C738C1CC9F}" srcId="{886E1F6B-656D-4FFD-A5BF-99D9687D13CA}" destId="{E5715712-A0C0-46BB-9F80-68C9D0B4FAAF}" srcOrd="1" destOrd="0" parTransId="{68464383-071A-418F-B09D-4BDE8A762A97}" sibTransId="{FF3C21C3-E7AC-4A48-8F04-039DB6D42089}"/>
    <dgm:cxn modelId="{CE654B5C-30F6-42E6-AAE1-301CB0D39726}" type="presOf" srcId="{E5715712-A0C0-46BB-9F80-68C9D0B4FAAF}" destId="{CDB13A93-9A14-4DBB-9B63-AD2C2B726E6A}" srcOrd="0" destOrd="0" presId="urn:microsoft.com/office/officeart/2005/8/layout/process4"/>
    <dgm:cxn modelId="{3A00F8E4-2FAA-4D2F-8C3E-1C3D6A03EE17}" type="presOf" srcId="{886E1F6B-656D-4FFD-A5BF-99D9687D13CA}" destId="{7530BC53-DB7B-423F-8F7B-5DA2902014D2}" srcOrd="0" destOrd="0" presId="urn:microsoft.com/office/officeart/2005/8/layout/process4"/>
    <dgm:cxn modelId="{249FA04B-5F14-46DA-ABBE-C0A80CE7C729}" type="presParOf" srcId="{7530BC53-DB7B-423F-8F7B-5DA2902014D2}" destId="{F49488F9-1F17-4D72-A9FF-E09BD717F149}" srcOrd="0" destOrd="0" presId="urn:microsoft.com/office/officeart/2005/8/layout/process4"/>
    <dgm:cxn modelId="{DFAD0611-05CE-4499-924A-6DF6453DCD14}" type="presParOf" srcId="{F49488F9-1F17-4D72-A9FF-E09BD717F149}" destId="{CDB13A93-9A14-4DBB-9B63-AD2C2B726E6A}" srcOrd="0" destOrd="0" presId="urn:microsoft.com/office/officeart/2005/8/layout/process4"/>
    <dgm:cxn modelId="{691F7BA4-D793-455B-84BA-D86C0583B84E}" type="presParOf" srcId="{7530BC53-DB7B-423F-8F7B-5DA2902014D2}" destId="{781B3349-7880-407E-9D0F-FBD3A677FB2B}" srcOrd="1" destOrd="0" presId="urn:microsoft.com/office/officeart/2005/8/layout/process4"/>
    <dgm:cxn modelId="{DEB44BE3-FFCF-4A08-98E4-94F53D5E557E}" type="presParOf" srcId="{7530BC53-DB7B-423F-8F7B-5DA2902014D2}" destId="{BA0C8001-B340-49A5-B2C7-53677CDD0133}" srcOrd="2" destOrd="0" presId="urn:microsoft.com/office/officeart/2005/8/layout/process4"/>
    <dgm:cxn modelId="{0F8DBC86-303D-41D7-8E11-6CB1A719CED4}" type="presParOf" srcId="{BA0C8001-B340-49A5-B2C7-53677CDD0133}" destId="{F9FD857D-FDBA-4688-89A6-5AA30DA2D088}" srcOrd="0" destOrd="0" presId="urn:microsoft.com/office/officeart/2005/8/layout/process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B13A93-9A14-4DBB-9B63-AD2C2B726E6A}">
      <dsp:nvSpPr>
        <dsp:cNvPr id="0" name=""/>
        <dsp:cNvSpPr/>
      </dsp:nvSpPr>
      <dsp:spPr>
        <a:xfrm>
          <a:off x="0" y="2945226"/>
          <a:ext cx="3460376" cy="19323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IN" sz="1200" kern="1200"/>
            <a:t>Further, summary, str, class, head and tail command on the cleaned dataset (store_cleaned_2); summary command is used to describe the 1st 2nd 3rd quartile along with upper and lower whiskers, str command is used to check what are the datatypes of the variables, class command tells us the datatype (dataframe), head command is used to get the glimpse of first 5 rows with all columns and tail command is used to get the glimpse of last 5 rows with all columns.</a:t>
          </a:r>
          <a:endParaRPr lang="en-US" sz="1200" kern="1200"/>
        </a:p>
      </dsp:txBody>
      <dsp:txXfrm>
        <a:off x="0" y="2945226"/>
        <a:ext cx="3460376" cy="1932387"/>
      </dsp:txXfrm>
    </dsp:sp>
    <dsp:sp modelId="{F9FD857D-FDBA-4688-89A6-5AA30DA2D088}">
      <dsp:nvSpPr>
        <dsp:cNvPr id="0" name=""/>
        <dsp:cNvSpPr/>
      </dsp:nvSpPr>
      <dsp:spPr>
        <a:xfrm rot="10800000">
          <a:off x="0" y="2200"/>
          <a:ext cx="3460376" cy="2972012"/>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IN" sz="1200" kern="1200"/>
            <a:t>We cleaned the dataset and named it as store_cleaned_2</a:t>
          </a:r>
          <a:endParaRPr lang="en-US" sz="1200" kern="1200"/>
        </a:p>
      </dsp:txBody>
      <dsp:txXfrm rot="10800000">
        <a:off x="0" y="2200"/>
        <a:ext cx="3460376" cy="193112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708AF4B-1622-45B1-93A7-703338564C91}" type="datetimeFigureOut">
              <a:rPr lang="en-IN" smtClean="0"/>
              <a:t>09-04-2025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98D62D-2E8B-49B9-9E17-C7B17E391E3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0310621"/>
      </p:ext>
    </p:extLst>
  </p:cSld>
  <p:clrMapOvr>
    <a:masterClrMapping/>
  </p:clrMapOvr>
  <p:transition spd="slow">
    <p:wip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08AF4B-1622-45B1-93A7-703338564C91}" type="datetimeFigureOut">
              <a:rPr lang="en-IN" smtClean="0"/>
              <a:t>09-04-2025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98D62D-2E8B-49B9-9E17-C7B17E391E37}" type="slidenum">
              <a:rPr lang="en-IN" smtClean="0"/>
              <a:t>‹#›</a:t>
            </a:fld>
            <a:endParaRPr lang="en-IN"/>
          </a:p>
        </p:txBody>
      </p:sp>
    </p:spTree>
    <p:extLst>
      <p:ext uri="{BB962C8B-B14F-4D97-AF65-F5344CB8AC3E}">
        <p14:creationId xmlns:p14="http://schemas.microsoft.com/office/powerpoint/2010/main" val="1773885511"/>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08AF4B-1622-45B1-93A7-703338564C91}" type="datetimeFigureOut">
              <a:rPr lang="en-IN" smtClean="0"/>
              <a:t>09-04-2025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98D62D-2E8B-49B9-9E17-C7B17E391E3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9199964"/>
      </p:ext>
    </p:extLst>
  </p:cSld>
  <p:clrMapOvr>
    <a:masterClrMapping/>
  </p:clrMapOvr>
  <p:transition spd="slow">
    <p:wip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08AF4B-1622-45B1-93A7-703338564C91}" type="datetimeFigureOut">
              <a:rPr lang="en-IN" smtClean="0"/>
              <a:t>09-04-2025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98D62D-2E8B-49B9-9E17-C7B17E391E37}" type="slidenum">
              <a:rPr lang="en-IN" smtClean="0"/>
              <a:t>‹#›</a:t>
            </a:fld>
            <a:endParaRPr lang="en-IN"/>
          </a:p>
        </p:txBody>
      </p:sp>
    </p:spTree>
    <p:extLst>
      <p:ext uri="{BB962C8B-B14F-4D97-AF65-F5344CB8AC3E}">
        <p14:creationId xmlns:p14="http://schemas.microsoft.com/office/powerpoint/2010/main" val="4149764566"/>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08AF4B-1622-45B1-93A7-703338564C91}" type="datetimeFigureOut">
              <a:rPr lang="en-IN" smtClean="0"/>
              <a:t>09-04-2025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E98D62D-2E8B-49B9-9E17-C7B17E391E37}" type="slidenum">
              <a:rPr lang="en-IN" smtClean="0"/>
              <a:t>‹#›</a:t>
            </a:fld>
            <a:endParaRPr lang="en-IN"/>
          </a:p>
        </p:txBody>
      </p:sp>
    </p:spTree>
    <p:extLst>
      <p:ext uri="{BB962C8B-B14F-4D97-AF65-F5344CB8AC3E}">
        <p14:creationId xmlns:p14="http://schemas.microsoft.com/office/powerpoint/2010/main" val="3733513913"/>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08AF4B-1622-45B1-93A7-703338564C91}" type="datetimeFigureOut">
              <a:rPr lang="en-IN" smtClean="0"/>
              <a:t>09-04-2025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E98D62D-2E8B-49B9-9E17-C7B17E391E37}" type="slidenum">
              <a:rPr lang="en-IN" smtClean="0"/>
              <a:t>‹#›</a:t>
            </a:fld>
            <a:endParaRPr lang="en-IN"/>
          </a:p>
        </p:txBody>
      </p:sp>
    </p:spTree>
    <p:extLst>
      <p:ext uri="{BB962C8B-B14F-4D97-AF65-F5344CB8AC3E}">
        <p14:creationId xmlns:p14="http://schemas.microsoft.com/office/powerpoint/2010/main" val="309524783"/>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708AF4B-1622-45B1-93A7-703338564C91}" type="datetimeFigureOut">
              <a:rPr lang="en-IN" smtClean="0"/>
              <a:t>09-04-2025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7E98D62D-2E8B-49B9-9E17-C7B17E391E37}" type="slidenum">
              <a:rPr lang="en-IN" smtClean="0"/>
              <a:t>‹#›</a:t>
            </a:fld>
            <a:endParaRPr lang="en-IN"/>
          </a:p>
        </p:txBody>
      </p:sp>
    </p:spTree>
    <p:extLst>
      <p:ext uri="{BB962C8B-B14F-4D97-AF65-F5344CB8AC3E}">
        <p14:creationId xmlns:p14="http://schemas.microsoft.com/office/powerpoint/2010/main" val="392066166"/>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708AF4B-1622-45B1-93A7-703338564C91}" type="datetimeFigureOut">
              <a:rPr lang="en-IN" smtClean="0"/>
              <a:t>09-04-2025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E98D62D-2E8B-49B9-9E17-C7B17E391E37}" type="slidenum">
              <a:rPr lang="en-IN" smtClean="0"/>
              <a:t>‹#›</a:t>
            </a:fld>
            <a:endParaRPr lang="en-IN"/>
          </a:p>
        </p:txBody>
      </p:sp>
    </p:spTree>
    <p:extLst>
      <p:ext uri="{BB962C8B-B14F-4D97-AF65-F5344CB8AC3E}">
        <p14:creationId xmlns:p14="http://schemas.microsoft.com/office/powerpoint/2010/main" val="3720659688"/>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08AF4B-1622-45B1-93A7-703338564C91}" type="datetimeFigureOut">
              <a:rPr lang="en-IN" smtClean="0"/>
              <a:t>09-04-2025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98D62D-2E8B-49B9-9E17-C7B17E391E37}" type="slidenum">
              <a:rPr lang="en-IN" smtClean="0"/>
              <a:t>‹#›</a:t>
            </a:fld>
            <a:endParaRPr lang="en-IN"/>
          </a:p>
        </p:txBody>
      </p:sp>
    </p:spTree>
    <p:extLst>
      <p:ext uri="{BB962C8B-B14F-4D97-AF65-F5344CB8AC3E}">
        <p14:creationId xmlns:p14="http://schemas.microsoft.com/office/powerpoint/2010/main" val="2623309420"/>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08AF4B-1622-45B1-93A7-703338564C91}" type="datetimeFigureOut">
              <a:rPr lang="en-IN" smtClean="0"/>
              <a:t>09-04-2025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98D62D-2E8B-49B9-9E17-C7B17E391E37}" type="slidenum">
              <a:rPr lang="en-IN" smtClean="0"/>
              <a:t>‹#›</a:t>
            </a:fld>
            <a:endParaRPr lang="en-IN"/>
          </a:p>
        </p:txBody>
      </p:sp>
    </p:spTree>
    <p:extLst>
      <p:ext uri="{BB962C8B-B14F-4D97-AF65-F5344CB8AC3E}">
        <p14:creationId xmlns:p14="http://schemas.microsoft.com/office/powerpoint/2010/main" val="5416815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08AF4B-1622-45B1-93A7-703338564C91}" type="datetimeFigureOut">
              <a:rPr lang="en-IN" smtClean="0"/>
              <a:t>09-04-2025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98D62D-2E8B-49B9-9E17-C7B17E391E37}" type="slidenum">
              <a:rPr lang="en-IN" smtClean="0"/>
              <a:t>‹#›</a:t>
            </a:fld>
            <a:endParaRPr lang="en-IN"/>
          </a:p>
        </p:txBody>
      </p:sp>
    </p:spTree>
    <p:extLst>
      <p:ext uri="{BB962C8B-B14F-4D97-AF65-F5344CB8AC3E}">
        <p14:creationId xmlns:p14="http://schemas.microsoft.com/office/powerpoint/2010/main" val="2953926642"/>
      </p:ext>
    </p:extLst>
  </p:cSld>
  <p:clrMapOvr>
    <a:masterClrMapping/>
  </p:clrMapOvr>
  <p:transition spd="slow">
    <p:wipe/>
  </p:transition>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708AF4B-1622-45B1-93A7-703338564C91}" type="datetimeFigureOut">
              <a:rPr lang="en-IN" smtClean="0"/>
              <a:t>09-04-2025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E98D62D-2E8B-49B9-9E17-C7B17E391E37}"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615756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slow">
    <p:wipe/>
  </p:transition>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7.png"/><Relationship Id="rId7" Type="http://schemas.openxmlformats.org/officeDocument/2006/relationships/diagramQuickStyle" Target="../diagrams/quickStyle1.xml"/><Relationship Id="rId2" Type="http://schemas.openxmlformats.org/officeDocument/2006/relationships/image" Target="../media/image6.png"/><Relationship Id="rId1" Type="http://schemas.openxmlformats.org/officeDocument/2006/relationships/slideLayout" Target="../slideLayouts/slideLayout8.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8.png"/><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Desk with productivity items">
            <a:extLst>
              <a:ext uri="{FF2B5EF4-FFF2-40B4-BE49-F238E27FC236}">
                <a16:creationId xmlns:a16="http://schemas.microsoft.com/office/drawing/2014/main" id="{385F5F8C-5C4B-08F1-59DB-1E3A8764AF26}"/>
              </a:ext>
            </a:extLst>
          </p:cNvPr>
          <p:cNvPicPr>
            <a:picLocks noChangeAspect="1"/>
          </p:cNvPicPr>
          <p:nvPr/>
        </p:nvPicPr>
        <p:blipFill rotWithShape="1">
          <a:blip r:embed="rId2">
            <a:duotone>
              <a:schemeClr val="bg2">
                <a:shade val="45000"/>
                <a:satMod val="135000"/>
              </a:schemeClr>
              <a:prstClr val="white"/>
            </a:duotone>
            <a:alphaModFix amt="35000"/>
          </a:blip>
          <a:srcRect b="15730"/>
          <a:stretch/>
        </p:blipFill>
        <p:spPr>
          <a:xfrm>
            <a:off x="20" y="325130"/>
            <a:ext cx="12191980" cy="6857990"/>
          </a:xfrm>
          <a:prstGeom prst="rect">
            <a:avLst/>
          </a:prstGeom>
        </p:spPr>
      </p:pic>
      <p:sp>
        <p:nvSpPr>
          <p:cNvPr id="2" name="Title 1">
            <a:extLst>
              <a:ext uri="{FF2B5EF4-FFF2-40B4-BE49-F238E27FC236}">
                <a16:creationId xmlns:a16="http://schemas.microsoft.com/office/drawing/2014/main" id="{1F4A6D71-4AE6-F74F-21E6-33A26453A1C9}"/>
              </a:ext>
            </a:extLst>
          </p:cNvPr>
          <p:cNvSpPr>
            <a:spLocks noGrp="1"/>
          </p:cNvSpPr>
          <p:nvPr>
            <p:ph type="ctrTitle"/>
          </p:nvPr>
        </p:nvSpPr>
        <p:spPr>
          <a:xfrm>
            <a:off x="1097280" y="758952"/>
            <a:ext cx="10058400" cy="2380487"/>
          </a:xfrm>
        </p:spPr>
        <p:txBody>
          <a:bodyPr>
            <a:normAutofit/>
          </a:bodyPr>
          <a:lstStyle/>
          <a:p>
            <a:pPr algn="ctr"/>
            <a:r>
              <a:rPr lang="en-IN" sz="5400" dirty="0">
                <a:latin typeface="+mn-lt"/>
              </a:rPr>
              <a:t>Final Project</a:t>
            </a:r>
            <a:br>
              <a:rPr lang="en-IN" sz="5400" dirty="0">
                <a:latin typeface="+mn-lt"/>
              </a:rPr>
            </a:br>
            <a:r>
              <a:rPr lang="en-IN" sz="5400" dirty="0">
                <a:latin typeface="+mn-lt"/>
              </a:rPr>
              <a:t>on Departmental Store</a:t>
            </a:r>
          </a:p>
        </p:txBody>
      </p:sp>
      <p:sp>
        <p:nvSpPr>
          <p:cNvPr id="3" name="Subtitle 2">
            <a:extLst>
              <a:ext uri="{FF2B5EF4-FFF2-40B4-BE49-F238E27FC236}">
                <a16:creationId xmlns:a16="http://schemas.microsoft.com/office/drawing/2014/main" id="{292F1237-F9EA-1824-8BA8-9A9B166A1E18}"/>
              </a:ext>
            </a:extLst>
          </p:cNvPr>
          <p:cNvSpPr>
            <a:spLocks noGrp="1"/>
          </p:cNvSpPr>
          <p:nvPr>
            <p:ph type="subTitle" idx="1"/>
          </p:nvPr>
        </p:nvSpPr>
        <p:spPr>
          <a:xfrm>
            <a:off x="1100051" y="4460240"/>
            <a:ext cx="10058400" cy="1138380"/>
          </a:xfrm>
        </p:spPr>
        <p:txBody>
          <a:bodyPr>
            <a:noAutofit/>
          </a:bodyPr>
          <a:lstStyle/>
          <a:p>
            <a:r>
              <a:rPr lang="en-IN" sz="1600" b="1" dirty="0">
                <a:solidFill>
                  <a:schemeClr val="tx1">
                    <a:lumMod val="85000"/>
                    <a:lumOff val="15000"/>
                  </a:schemeClr>
                </a:solidFill>
                <a:latin typeface="Cavolini" panose="03000502040302020204" pitchFamily="66" charset="0"/>
                <a:cs typeface="Cavolini" panose="03000502040302020204" pitchFamily="66" charset="0"/>
              </a:rPr>
              <a:t>By:</a:t>
            </a:r>
          </a:p>
          <a:p>
            <a:r>
              <a:rPr lang="en-IN" sz="1600" b="1" dirty="0">
                <a:solidFill>
                  <a:schemeClr val="tx1">
                    <a:lumMod val="85000"/>
                    <a:lumOff val="15000"/>
                  </a:schemeClr>
                </a:solidFill>
                <a:latin typeface="Cavolini" panose="03000502040302020204" pitchFamily="66" charset="0"/>
                <a:cs typeface="Cavolini" panose="03000502040302020204" pitchFamily="66" charset="0"/>
              </a:rPr>
              <a:t>Tallam sravan</a:t>
            </a:r>
          </a:p>
          <a:p>
            <a:endParaRPr lang="en-IN" sz="1600" b="1" dirty="0">
              <a:solidFill>
                <a:schemeClr val="tx1">
                  <a:lumMod val="85000"/>
                  <a:lumOff val="15000"/>
                </a:schemeClr>
              </a:solidFill>
              <a:latin typeface="Cavolini" panose="03000502040302020204" pitchFamily="66" charset="0"/>
              <a:cs typeface="Cavolini" panose="03000502040302020204" pitchFamily="66" charset="0"/>
            </a:endParaRPr>
          </a:p>
          <a:p>
            <a:endParaRPr lang="en-IN" sz="1600" dirty="0">
              <a:solidFill>
                <a:schemeClr val="tx1">
                  <a:lumMod val="85000"/>
                  <a:lumOff val="15000"/>
                </a:schemeClr>
              </a:solidFill>
              <a:latin typeface="Cavolini" panose="03000502040302020204" pitchFamily="66" charset="0"/>
              <a:cs typeface="Cavolini" panose="03000502040302020204" pitchFamily="66" charset="0"/>
            </a:endParaRPr>
          </a:p>
        </p:txBody>
      </p:sp>
      <p:cxnSp>
        <p:nvCxnSpPr>
          <p:cNvPr id="9" name="Straight Connector 8">
            <a:extLst>
              <a:ext uri="{FF2B5EF4-FFF2-40B4-BE49-F238E27FC236}">
                <a16:creationId xmlns:a16="http://schemas.microsoft.com/office/drawing/2014/main" id="{77AB95BF-57D0-4E49-9EF2-408B47C8D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C520CBD-F82E-44E4-BDA5-128716AD7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4618AE32-A526-42FC-A854-732740BD3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483417676"/>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75D004-FD92-163E-1E7A-2449163D358C}"/>
              </a:ext>
            </a:extLst>
          </p:cNvPr>
          <p:cNvSpPr>
            <a:spLocks noGrp="1"/>
          </p:cNvSpPr>
          <p:nvPr>
            <p:ph type="title"/>
          </p:nvPr>
        </p:nvSpPr>
        <p:spPr>
          <a:xfrm>
            <a:off x="5181601" y="634946"/>
            <a:ext cx="6368142" cy="1450757"/>
          </a:xfrm>
        </p:spPr>
        <p:txBody>
          <a:bodyPr>
            <a:normAutofit/>
          </a:bodyPr>
          <a:lstStyle/>
          <a:p>
            <a:r>
              <a:rPr lang="en-IN" dirty="0"/>
              <a:t>Introduction</a:t>
            </a:r>
          </a:p>
        </p:txBody>
      </p:sp>
      <p:pic>
        <p:nvPicPr>
          <p:cNvPr id="5" name="Picture 4">
            <a:extLst>
              <a:ext uri="{FF2B5EF4-FFF2-40B4-BE49-F238E27FC236}">
                <a16:creationId xmlns:a16="http://schemas.microsoft.com/office/drawing/2014/main" id="{DD61164C-7C67-29F9-ED53-25A0B2B19190}"/>
              </a:ext>
            </a:extLst>
          </p:cNvPr>
          <p:cNvPicPr>
            <a:picLocks noChangeAspect="1"/>
          </p:cNvPicPr>
          <p:nvPr/>
        </p:nvPicPr>
        <p:blipFill rotWithShape="1">
          <a:blip r:embed="rId2"/>
          <a:srcRect r="61723" b="-444"/>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EDFF5B-0400-6739-1376-F97979CBD70E}"/>
              </a:ext>
            </a:extLst>
          </p:cNvPr>
          <p:cNvSpPr>
            <a:spLocks noGrp="1"/>
          </p:cNvSpPr>
          <p:nvPr>
            <p:ph idx="1"/>
          </p:nvPr>
        </p:nvSpPr>
        <p:spPr>
          <a:xfrm>
            <a:off x="5181601" y="2198914"/>
            <a:ext cx="6368142" cy="3670180"/>
          </a:xfrm>
        </p:spPr>
        <p:txBody>
          <a:bodyPr>
            <a:normAutofit/>
          </a:bodyPr>
          <a:lstStyle/>
          <a:p>
            <a:pPr>
              <a:buFont typeface="Arial" panose="020B0604020202020204" pitchFamily="34" charset="0"/>
              <a:buChar char="•"/>
            </a:pPr>
            <a:r>
              <a:rPr lang="en-IN" sz="1700" dirty="0"/>
              <a:t>The following presentation is regarding Departmental Store. The dataset consists of 1030 observations with 16 variables. Total (Sales) is the Dependent Variable the rest 15 are Independent Variables.</a:t>
            </a:r>
          </a:p>
          <a:p>
            <a:pPr>
              <a:buFont typeface="Arial" panose="020B0604020202020204" pitchFamily="34" charset="0"/>
              <a:buChar char="•"/>
            </a:pPr>
            <a:r>
              <a:rPr lang="en-IN" sz="1700" dirty="0"/>
              <a:t>The dataset is null free and there were no missing values in the dataset.</a:t>
            </a:r>
          </a:p>
          <a:p>
            <a:pPr>
              <a:buFont typeface="Arial" panose="020B0604020202020204" pitchFamily="34" charset="0"/>
              <a:buChar char="•"/>
            </a:pPr>
            <a:r>
              <a:rPr lang="en-US" sz="1700" dirty="0"/>
              <a:t>The data is sorted into 6 different categories: Beverages, Daily Goods, Gadgets, Personal Care, Pet Care and Sports Equipment, based on these products/categories the sales were determined.</a:t>
            </a:r>
          </a:p>
          <a:p>
            <a:pPr>
              <a:buFont typeface="Arial" panose="020B0604020202020204" pitchFamily="34" charset="0"/>
              <a:buChar char="•"/>
            </a:pPr>
            <a:r>
              <a:rPr lang="en-US" sz="1700" dirty="0"/>
              <a:t> We performed various Analysis including EDA, Factorization. </a:t>
            </a:r>
          </a:p>
          <a:p>
            <a:pPr>
              <a:buFont typeface="Arial" panose="020B0604020202020204" pitchFamily="34" charset="0"/>
              <a:buChar char="•"/>
            </a:pPr>
            <a:r>
              <a:rPr lang="en-US" sz="1700" dirty="0"/>
              <a:t>Further created a histogram, bar plot and scatter plot for better data visualization.</a:t>
            </a:r>
            <a:endParaRPr lang="en-IN" sz="1700" dirty="0"/>
          </a:p>
          <a:p>
            <a:endParaRPr lang="en-IN" sz="1700" dirty="0"/>
          </a:p>
        </p:txBody>
      </p:sp>
    </p:spTree>
    <p:extLst>
      <p:ext uri="{BB962C8B-B14F-4D97-AF65-F5344CB8AC3E}">
        <p14:creationId xmlns:p14="http://schemas.microsoft.com/office/powerpoint/2010/main" val="196158451"/>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81CAA6-C6E4-5153-C59F-0CABB5A25D15}"/>
              </a:ext>
            </a:extLst>
          </p:cNvPr>
          <p:cNvSpPr>
            <a:spLocks noGrp="1"/>
          </p:cNvSpPr>
          <p:nvPr>
            <p:ph type="title"/>
          </p:nvPr>
        </p:nvSpPr>
        <p:spPr>
          <a:xfrm>
            <a:off x="457200" y="457200"/>
            <a:ext cx="3200400" cy="1532965"/>
          </a:xfrm>
        </p:spPr>
        <p:txBody>
          <a:bodyPr>
            <a:normAutofit fontScale="90000"/>
          </a:bodyPr>
          <a:lstStyle/>
          <a:p>
            <a:pPr algn="ctr"/>
            <a:r>
              <a:rPr lang="en-IN" dirty="0"/>
              <a:t>Reading the Dataset and Treating the Missing Values</a:t>
            </a:r>
          </a:p>
        </p:txBody>
      </p:sp>
      <p:sp>
        <p:nvSpPr>
          <p:cNvPr id="6" name="Text Placeholder 5">
            <a:extLst>
              <a:ext uri="{FF2B5EF4-FFF2-40B4-BE49-F238E27FC236}">
                <a16:creationId xmlns:a16="http://schemas.microsoft.com/office/drawing/2014/main" id="{97FDF118-9E08-11A8-2856-DAFB63CEBF66}"/>
              </a:ext>
            </a:extLst>
          </p:cNvPr>
          <p:cNvSpPr>
            <a:spLocks noGrp="1"/>
          </p:cNvSpPr>
          <p:nvPr>
            <p:ph type="body" sz="half" idx="2"/>
          </p:nvPr>
        </p:nvSpPr>
        <p:spPr>
          <a:xfrm>
            <a:off x="457200" y="2357718"/>
            <a:ext cx="3200400" cy="3947486"/>
          </a:xfrm>
        </p:spPr>
        <p:txBody>
          <a:bodyPr>
            <a:normAutofit lnSpcReduction="10000"/>
          </a:bodyPr>
          <a:lstStyle/>
          <a:p>
            <a:pPr marL="285750" indent="-285750" algn="just">
              <a:buFont typeface="Arial" panose="020B0604020202020204" pitchFamily="34" charset="0"/>
              <a:buChar char="•"/>
            </a:pPr>
            <a:r>
              <a:rPr lang="en-IN" sz="1800" dirty="0">
                <a:effectLst/>
                <a:ea typeface="Calibri" panose="020F0502020204030204" pitchFamily="34" charset="0"/>
                <a:cs typeface="Times New Roman" panose="02020603050405020304" pitchFamily="18" charset="0"/>
              </a:rPr>
              <a:t>As a first step we set the working directory and installed and loaded the required libraries. Next, we read the dataset; the dataset consists of 1030 Observations with 16 Variables.</a:t>
            </a:r>
          </a:p>
          <a:p>
            <a:pPr marL="285750" indent="-285750" algn="just">
              <a:buFont typeface="Arial" panose="020B0604020202020204" pitchFamily="34" charset="0"/>
              <a:buChar char="•"/>
            </a:pPr>
            <a:r>
              <a:rPr lang="en-IN" sz="1800" dirty="0">
                <a:effectLst/>
                <a:ea typeface="Calibri" panose="020F0502020204030204" pitchFamily="34" charset="0"/>
                <a:cs typeface="Times New Roman" panose="02020603050405020304" pitchFamily="18" charset="0"/>
              </a:rPr>
              <a:t>Fin</a:t>
            </a:r>
            <a:r>
              <a:rPr lang="en-IN" sz="1800" dirty="0">
                <a:ea typeface="Calibri" panose="020F0502020204030204" pitchFamily="34" charset="0"/>
                <a:cs typeface="Times New Roman" panose="02020603050405020304" pitchFamily="18" charset="0"/>
              </a:rPr>
              <a:t>ding t</a:t>
            </a:r>
            <a:r>
              <a:rPr lang="en-IN" sz="1800" dirty="0">
                <a:effectLst/>
                <a:ea typeface="Calibri" panose="020F0502020204030204" pitchFamily="34" charset="0"/>
                <a:cs typeface="Times New Roman" panose="02020603050405020304" pitchFamily="18" charset="0"/>
              </a:rPr>
              <a:t>he missing values using is.na and </a:t>
            </a:r>
            <a:r>
              <a:rPr lang="en-IN" sz="1800" dirty="0" err="1">
                <a:effectLst/>
                <a:ea typeface="Calibri" panose="020F0502020204030204" pitchFamily="34" charset="0"/>
                <a:cs typeface="Times New Roman" panose="02020603050405020304" pitchFamily="18" charset="0"/>
              </a:rPr>
              <a:t>colsums</a:t>
            </a:r>
            <a:r>
              <a:rPr lang="en-IN" sz="1800" dirty="0">
                <a:effectLst/>
                <a:ea typeface="Calibri" panose="020F0502020204030204" pitchFamily="34" charset="0"/>
                <a:cs typeface="Times New Roman" panose="02020603050405020304" pitchFamily="18" charset="0"/>
              </a:rPr>
              <a:t>(is.na(store_cleaned_2)). There were no missing values in the dataset.</a:t>
            </a:r>
          </a:p>
          <a:p>
            <a:pPr marL="285750" indent="-285750" algn="just">
              <a:buFont typeface="Arial" panose="020B0604020202020204" pitchFamily="34" charset="0"/>
              <a:buChar char="•"/>
            </a:pPr>
            <a:r>
              <a:rPr lang="en-IN" sz="1800" dirty="0">
                <a:ea typeface="Calibri" panose="020F0502020204030204" pitchFamily="34" charset="0"/>
                <a:cs typeface="Times New Roman" panose="02020603050405020304" pitchFamily="18" charset="0"/>
              </a:rPr>
              <a:t>There were no missing values in the dataset.</a:t>
            </a:r>
            <a:endParaRPr lang="en-IN" sz="1800" dirty="0">
              <a:effectLst/>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N" sz="1800" dirty="0">
              <a:effectLst/>
              <a:ea typeface="Calibri" panose="020F0502020204030204" pitchFamily="34" charset="0"/>
              <a:cs typeface="Times New Roman" panose="02020603050405020304" pitchFamily="18" charset="0"/>
            </a:endParaRPr>
          </a:p>
          <a:p>
            <a:endParaRPr lang="en-IN" dirty="0"/>
          </a:p>
        </p:txBody>
      </p:sp>
      <p:pic>
        <p:nvPicPr>
          <p:cNvPr id="7" name="Content Placeholder 6">
            <a:extLst>
              <a:ext uri="{FF2B5EF4-FFF2-40B4-BE49-F238E27FC236}">
                <a16:creationId xmlns:a16="http://schemas.microsoft.com/office/drawing/2014/main" id="{2A207E5C-260A-F85F-9721-ED64427F0BAD}"/>
              </a:ext>
            </a:extLst>
          </p:cNvPr>
          <p:cNvPicPr>
            <a:picLocks noGrp="1" noChangeAspect="1"/>
          </p:cNvPicPr>
          <p:nvPr>
            <p:ph idx="1"/>
          </p:nvPr>
        </p:nvPicPr>
        <p:blipFill>
          <a:blip r:embed="rId2"/>
          <a:stretch>
            <a:fillRect/>
          </a:stretch>
        </p:blipFill>
        <p:spPr>
          <a:xfrm>
            <a:off x="5824038" y="346355"/>
            <a:ext cx="4591943" cy="3859965"/>
          </a:xfrm>
          <a:prstGeom prst="rect">
            <a:avLst/>
          </a:prstGeom>
        </p:spPr>
      </p:pic>
      <p:pic>
        <p:nvPicPr>
          <p:cNvPr id="8" name="Picture 7">
            <a:extLst>
              <a:ext uri="{FF2B5EF4-FFF2-40B4-BE49-F238E27FC236}">
                <a16:creationId xmlns:a16="http://schemas.microsoft.com/office/drawing/2014/main" id="{FE36A47F-23BF-E558-C80A-2BD8BB2192FF}"/>
              </a:ext>
            </a:extLst>
          </p:cNvPr>
          <p:cNvPicPr>
            <a:picLocks noChangeAspect="1"/>
          </p:cNvPicPr>
          <p:nvPr/>
        </p:nvPicPr>
        <p:blipFill>
          <a:blip r:embed="rId3"/>
          <a:stretch>
            <a:fillRect/>
          </a:stretch>
        </p:blipFill>
        <p:spPr>
          <a:xfrm>
            <a:off x="5148209" y="4567443"/>
            <a:ext cx="5943600" cy="1506220"/>
          </a:xfrm>
          <a:prstGeom prst="rect">
            <a:avLst/>
          </a:prstGeom>
        </p:spPr>
      </p:pic>
    </p:spTree>
    <p:extLst>
      <p:ext uri="{BB962C8B-B14F-4D97-AF65-F5344CB8AC3E}">
        <p14:creationId xmlns:p14="http://schemas.microsoft.com/office/powerpoint/2010/main" val="408974353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0B15C-75DE-4784-4E6F-946D8BF18AFC}"/>
              </a:ext>
            </a:extLst>
          </p:cNvPr>
          <p:cNvSpPr>
            <a:spLocks noGrp="1"/>
          </p:cNvSpPr>
          <p:nvPr>
            <p:ph type="title"/>
          </p:nvPr>
        </p:nvSpPr>
        <p:spPr>
          <a:xfrm>
            <a:off x="457200" y="594359"/>
            <a:ext cx="3200400" cy="687594"/>
          </a:xfrm>
        </p:spPr>
        <p:txBody>
          <a:bodyPr>
            <a:normAutofit/>
          </a:bodyPr>
          <a:lstStyle/>
          <a:p>
            <a:pPr algn="ctr"/>
            <a:r>
              <a:rPr lang="en-IN" sz="3200" dirty="0"/>
              <a:t>Cleaned Dataset</a:t>
            </a:r>
          </a:p>
        </p:txBody>
      </p:sp>
      <p:pic>
        <p:nvPicPr>
          <p:cNvPr id="5" name="Content Placeholder 4">
            <a:extLst>
              <a:ext uri="{FF2B5EF4-FFF2-40B4-BE49-F238E27FC236}">
                <a16:creationId xmlns:a16="http://schemas.microsoft.com/office/drawing/2014/main" id="{B57E2588-0086-256F-DC06-72F60990BF9D}"/>
              </a:ext>
            </a:extLst>
          </p:cNvPr>
          <p:cNvPicPr>
            <a:picLocks noGrp="1" noChangeAspect="1"/>
          </p:cNvPicPr>
          <p:nvPr>
            <p:ph idx="1"/>
          </p:nvPr>
        </p:nvPicPr>
        <p:blipFill>
          <a:blip r:embed="rId2"/>
          <a:stretch>
            <a:fillRect/>
          </a:stretch>
        </p:blipFill>
        <p:spPr>
          <a:xfrm>
            <a:off x="4440119" y="594359"/>
            <a:ext cx="4318400" cy="3294077"/>
          </a:xfrm>
          <a:prstGeom prst="rect">
            <a:avLst/>
          </a:prstGeom>
        </p:spPr>
      </p:pic>
      <p:pic>
        <p:nvPicPr>
          <p:cNvPr id="6" name="Picture 5">
            <a:extLst>
              <a:ext uri="{FF2B5EF4-FFF2-40B4-BE49-F238E27FC236}">
                <a16:creationId xmlns:a16="http://schemas.microsoft.com/office/drawing/2014/main" id="{DCC38EB3-91D0-528D-94A7-95E664065351}"/>
              </a:ext>
            </a:extLst>
          </p:cNvPr>
          <p:cNvPicPr>
            <a:picLocks noChangeAspect="1"/>
          </p:cNvPicPr>
          <p:nvPr/>
        </p:nvPicPr>
        <p:blipFill>
          <a:blip r:embed="rId3"/>
          <a:stretch>
            <a:fillRect/>
          </a:stretch>
        </p:blipFill>
        <p:spPr>
          <a:xfrm>
            <a:off x="8583706" y="594358"/>
            <a:ext cx="3544787" cy="3294077"/>
          </a:xfrm>
          <a:prstGeom prst="rect">
            <a:avLst/>
          </a:prstGeom>
        </p:spPr>
      </p:pic>
      <p:pic>
        <p:nvPicPr>
          <p:cNvPr id="7" name="Picture 6">
            <a:extLst>
              <a:ext uri="{FF2B5EF4-FFF2-40B4-BE49-F238E27FC236}">
                <a16:creationId xmlns:a16="http://schemas.microsoft.com/office/drawing/2014/main" id="{4EB5767B-0359-4306-074A-5A74C068C42F}"/>
              </a:ext>
            </a:extLst>
          </p:cNvPr>
          <p:cNvPicPr>
            <a:picLocks noChangeAspect="1"/>
          </p:cNvPicPr>
          <p:nvPr/>
        </p:nvPicPr>
        <p:blipFill>
          <a:blip r:embed="rId4"/>
          <a:stretch>
            <a:fillRect/>
          </a:stretch>
        </p:blipFill>
        <p:spPr>
          <a:xfrm>
            <a:off x="6131104" y="3954661"/>
            <a:ext cx="4576483" cy="2734989"/>
          </a:xfrm>
          <a:prstGeom prst="rect">
            <a:avLst/>
          </a:prstGeom>
        </p:spPr>
      </p:pic>
      <p:graphicFrame>
        <p:nvGraphicFramePr>
          <p:cNvPr id="9" name="Text Placeholder 3">
            <a:extLst>
              <a:ext uri="{FF2B5EF4-FFF2-40B4-BE49-F238E27FC236}">
                <a16:creationId xmlns:a16="http://schemas.microsoft.com/office/drawing/2014/main" id="{1E612B76-9AC3-D605-6E96-D4105C67BF97}"/>
              </a:ext>
            </a:extLst>
          </p:cNvPr>
          <p:cNvGraphicFramePr/>
          <p:nvPr/>
        </p:nvGraphicFramePr>
        <p:xfrm>
          <a:off x="197224" y="1425388"/>
          <a:ext cx="3460376" cy="487981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68033538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295EA-8625-EABD-3520-3FF696B959D9}"/>
              </a:ext>
            </a:extLst>
          </p:cNvPr>
          <p:cNvSpPr>
            <a:spLocks noGrp="1"/>
          </p:cNvSpPr>
          <p:nvPr>
            <p:ph type="title"/>
          </p:nvPr>
        </p:nvSpPr>
        <p:spPr>
          <a:xfrm>
            <a:off x="457200" y="594359"/>
            <a:ext cx="3200400" cy="1306159"/>
          </a:xfrm>
        </p:spPr>
        <p:txBody>
          <a:bodyPr>
            <a:normAutofit fontScale="90000"/>
          </a:bodyPr>
          <a:lstStyle/>
          <a:p>
            <a:pPr algn="ctr"/>
            <a:r>
              <a:rPr lang="en-IN" dirty="0"/>
              <a:t>Factorization and str for the cleaned dataset </a:t>
            </a:r>
          </a:p>
        </p:txBody>
      </p:sp>
      <p:sp>
        <p:nvSpPr>
          <p:cNvPr id="4" name="Text Placeholder 3">
            <a:extLst>
              <a:ext uri="{FF2B5EF4-FFF2-40B4-BE49-F238E27FC236}">
                <a16:creationId xmlns:a16="http://schemas.microsoft.com/office/drawing/2014/main" id="{CEEF2E2C-E7CD-9ECA-2CBB-5698BD54E184}"/>
              </a:ext>
            </a:extLst>
          </p:cNvPr>
          <p:cNvSpPr>
            <a:spLocks noGrp="1"/>
          </p:cNvSpPr>
          <p:nvPr>
            <p:ph type="body" sz="half" idx="2"/>
          </p:nvPr>
        </p:nvSpPr>
        <p:spPr>
          <a:xfrm>
            <a:off x="457200" y="2196353"/>
            <a:ext cx="3200400" cy="4108851"/>
          </a:xfrm>
        </p:spPr>
        <p:txBody>
          <a:bodyPr/>
          <a:lstStyle/>
          <a:p>
            <a:pPr marL="285750" indent="-285750">
              <a:buFont typeface="Arial" panose="020B0604020202020204" pitchFamily="34" charset="0"/>
              <a:buChar char="•"/>
            </a:pPr>
            <a:r>
              <a:rPr lang="en-IN" sz="1800" dirty="0">
                <a:effectLst/>
                <a:ea typeface="Calibri" panose="020F0502020204030204" pitchFamily="34" charset="0"/>
                <a:cs typeface="Times New Roman" panose="02020603050405020304" pitchFamily="18" charset="0"/>
              </a:rPr>
              <a:t>Factorization for the character variables of the dataset, factorization is generally done to implement the character or categorical variables rightly for model building.</a:t>
            </a:r>
          </a:p>
          <a:p>
            <a:endParaRPr lang="en-IN" dirty="0"/>
          </a:p>
        </p:txBody>
      </p:sp>
      <p:pic>
        <p:nvPicPr>
          <p:cNvPr id="5" name="Content Placeholder 4">
            <a:extLst>
              <a:ext uri="{FF2B5EF4-FFF2-40B4-BE49-F238E27FC236}">
                <a16:creationId xmlns:a16="http://schemas.microsoft.com/office/drawing/2014/main" id="{FE865D68-A1AD-C37F-C524-7D3153BA1725}"/>
              </a:ext>
            </a:extLst>
          </p:cNvPr>
          <p:cNvPicPr>
            <a:picLocks noGrp="1" noChangeAspect="1"/>
          </p:cNvPicPr>
          <p:nvPr>
            <p:ph idx="1"/>
          </p:nvPr>
        </p:nvPicPr>
        <p:blipFill>
          <a:blip r:embed="rId2"/>
          <a:stretch>
            <a:fillRect/>
          </a:stretch>
        </p:blipFill>
        <p:spPr>
          <a:xfrm>
            <a:off x="4540315" y="3062177"/>
            <a:ext cx="6492875" cy="2741003"/>
          </a:xfrm>
          <a:prstGeom prst="rect">
            <a:avLst/>
          </a:prstGeom>
        </p:spPr>
      </p:pic>
      <p:pic>
        <p:nvPicPr>
          <p:cNvPr id="6" name="Picture 5">
            <a:extLst>
              <a:ext uri="{FF2B5EF4-FFF2-40B4-BE49-F238E27FC236}">
                <a16:creationId xmlns:a16="http://schemas.microsoft.com/office/drawing/2014/main" id="{D2D45120-1A3C-920A-CB54-9B421D8E07AD}"/>
              </a:ext>
            </a:extLst>
          </p:cNvPr>
          <p:cNvPicPr>
            <a:picLocks noChangeAspect="1"/>
          </p:cNvPicPr>
          <p:nvPr/>
        </p:nvPicPr>
        <p:blipFill>
          <a:blip r:embed="rId3"/>
          <a:stretch>
            <a:fillRect/>
          </a:stretch>
        </p:blipFill>
        <p:spPr>
          <a:xfrm>
            <a:off x="4540315" y="829124"/>
            <a:ext cx="7651685" cy="1833394"/>
          </a:xfrm>
          <a:prstGeom prst="rect">
            <a:avLst/>
          </a:prstGeom>
        </p:spPr>
      </p:pic>
    </p:spTree>
    <p:extLst>
      <p:ext uri="{BB962C8B-B14F-4D97-AF65-F5344CB8AC3E}">
        <p14:creationId xmlns:p14="http://schemas.microsoft.com/office/powerpoint/2010/main" val="90277811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10">
            <a:extLst>
              <a:ext uri="{FF2B5EF4-FFF2-40B4-BE49-F238E27FC236}">
                <a16:creationId xmlns:a16="http://schemas.microsoft.com/office/drawing/2014/main" id="{796CD800-C8BF-41B5-983A-3B3D95FA9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6" name="Rectangle 12">
            <a:extLst>
              <a:ext uri="{FF2B5EF4-FFF2-40B4-BE49-F238E27FC236}">
                <a16:creationId xmlns:a16="http://schemas.microsoft.com/office/drawing/2014/main" id="{ED36A27B-61AE-4AA1-8BD6-7310E072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27" name="Straight Connector 14">
            <a:extLst>
              <a:ext uri="{FF2B5EF4-FFF2-40B4-BE49-F238E27FC236}">
                <a16:creationId xmlns:a16="http://schemas.microsoft.com/office/drawing/2014/main" id="{511BC4C5-EB16-4C0B-83E6-96A39848CF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8" name="Rectangle 16">
            <a:extLst>
              <a:ext uri="{FF2B5EF4-FFF2-40B4-BE49-F238E27FC236}">
                <a16:creationId xmlns:a16="http://schemas.microsoft.com/office/drawing/2014/main" id="{73B90B8B-F76B-4130-8370-38033EEACB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163951-2908-24F3-E4BC-274288106C47}"/>
              </a:ext>
            </a:extLst>
          </p:cNvPr>
          <p:cNvSpPr>
            <a:spLocks noGrp="1"/>
          </p:cNvSpPr>
          <p:nvPr>
            <p:ph type="title"/>
          </p:nvPr>
        </p:nvSpPr>
        <p:spPr>
          <a:xfrm>
            <a:off x="5144679" y="634946"/>
            <a:ext cx="6405063" cy="1450757"/>
          </a:xfrm>
        </p:spPr>
        <p:txBody>
          <a:bodyPr vert="horz" lIns="91440" tIns="45720" rIns="91440" bIns="45720" rtlCol="0" anchor="b">
            <a:normAutofit/>
          </a:bodyPr>
          <a:lstStyle/>
          <a:p>
            <a:r>
              <a:rPr lang="en-US" sz="4800" dirty="0">
                <a:solidFill>
                  <a:schemeClr val="tx1">
                    <a:lumMod val="75000"/>
                    <a:lumOff val="25000"/>
                  </a:schemeClr>
                </a:solidFill>
              </a:rPr>
              <a:t>Count Plot</a:t>
            </a:r>
          </a:p>
        </p:txBody>
      </p:sp>
      <p:cxnSp>
        <p:nvCxnSpPr>
          <p:cNvPr id="29" name="Straight Connector 18">
            <a:extLst>
              <a:ext uri="{FF2B5EF4-FFF2-40B4-BE49-F238E27FC236}">
                <a16:creationId xmlns:a16="http://schemas.microsoft.com/office/drawing/2014/main" id="{C2D93264-3FF9-4175-A7FA-F927F0F77A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81247" y="2086188"/>
            <a:ext cx="5852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9E5F83F3-757B-36EB-B10B-3FA97D7F5E8B}"/>
              </a:ext>
            </a:extLst>
          </p:cNvPr>
          <p:cNvPicPr>
            <a:picLocks noChangeAspect="1"/>
          </p:cNvPicPr>
          <p:nvPr/>
        </p:nvPicPr>
        <p:blipFill rotWithShape="1">
          <a:blip r:embed="rId2"/>
          <a:srcRect t="1890" r="3" b="5841"/>
          <a:stretch/>
        </p:blipFill>
        <p:spPr>
          <a:xfrm>
            <a:off x="633999" y="3218101"/>
            <a:ext cx="4020296" cy="2476136"/>
          </a:xfrm>
          <a:prstGeom prst="rect">
            <a:avLst/>
          </a:prstGeom>
        </p:spPr>
      </p:pic>
      <p:sp>
        <p:nvSpPr>
          <p:cNvPr id="4" name="Text Placeholder 3">
            <a:extLst>
              <a:ext uri="{FF2B5EF4-FFF2-40B4-BE49-F238E27FC236}">
                <a16:creationId xmlns:a16="http://schemas.microsoft.com/office/drawing/2014/main" id="{0CD290F7-8F1F-9DA7-E1AB-A752C7DC1962}"/>
              </a:ext>
            </a:extLst>
          </p:cNvPr>
          <p:cNvSpPr>
            <a:spLocks noGrp="1"/>
          </p:cNvSpPr>
          <p:nvPr>
            <p:ph type="body" sz="half" idx="2"/>
          </p:nvPr>
        </p:nvSpPr>
        <p:spPr>
          <a:xfrm>
            <a:off x="5144679" y="2198914"/>
            <a:ext cx="6405063" cy="3670180"/>
          </a:xfrm>
        </p:spPr>
        <p:txBody>
          <a:bodyPr vert="horz" lIns="0" tIns="45720" rIns="0" bIns="45720" rtlCol="0">
            <a:normAutofit/>
          </a:bodyPr>
          <a:lstStyle/>
          <a:p>
            <a:r>
              <a:rPr lang="en-US" dirty="0">
                <a:solidFill>
                  <a:schemeClr val="tx1">
                    <a:lumMod val="75000"/>
                    <a:lumOff val="25000"/>
                  </a:schemeClr>
                </a:solidFill>
                <a:effectLst/>
              </a:rPr>
              <a:t>There are a total of 3 Locations in the dataset based on which all the sales are determined; Commerce City, Greeley and Louisville are the three locations.</a:t>
            </a:r>
          </a:p>
        </p:txBody>
      </p:sp>
      <p:sp>
        <p:nvSpPr>
          <p:cNvPr id="30" name="Rectangle 20">
            <a:extLst>
              <a:ext uri="{FF2B5EF4-FFF2-40B4-BE49-F238E27FC236}">
                <a16:creationId xmlns:a16="http://schemas.microsoft.com/office/drawing/2014/main" id="{91C67939-3FD0-4B45-8AA4-9FE55C7EE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1" name="Rectangle 22">
            <a:extLst>
              <a:ext uri="{FF2B5EF4-FFF2-40B4-BE49-F238E27FC236}">
                <a16:creationId xmlns:a16="http://schemas.microsoft.com/office/drawing/2014/main" id="{0981A96A-A87C-4F87-845A-3B0A6529F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9" name="Picture 8">
            <a:extLst>
              <a:ext uri="{FF2B5EF4-FFF2-40B4-BE49-F238E27FC236}">
                <a16:creationId xmlns:a16="http://schemas.microsoft.com/office/drawing/2014/main" id="{2C7DB20C-C1B3-EC0B-A1D3-E35C82CA8928}"/>
              </a:ext>
            </a:extLst>
          </p:cNvPr>
          <p:cNvPicPr>
            <a:picLocks noChangeAspect="1"/>
          </p:cNvPicPr>
          <p:nvPr/>
        </p:nvPicPr>
        <p:blipFill>
          <a:blip r:embed="rId3"/>
          <a:stretch>
            <a:fillRect/>
          </a:stretch>
        </p:blipFill>
        <p:spPr>
          <a:xfrm>
            <a:off x="151185" y="888997"/>
            <a:ext cx="4419989" cy="1051564"/>
          </a:xfrm>
          <a:prstGeom prst="rect">
            <a:avLst/>
          </a:prstGeom>
        </p:spPr>
      </p:pic>
      <p:sp>
        <p:nvSpPr>
          <p:cNvPr id="12" name="Content Placeholder 11">
            <a:extLst>
              <a:ext uri="{FF2B5EF4-FFF2-40B4-BE49-F238E27FC236}">
                <a16:creationId xmlns:a16="http://schemas.microsoft.com/office/drawing/2014/main" id="{B0A3B936-F6AE-4F9E-DD6A-A5E5C119A8BA}"/>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047032800"/>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96CD800-C8BF-41B5-983A-3B3D95FA9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ED36A27B-61AE-4AA1-8BD6-7310E072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5" name="Straight Connector 14">
            <a:extLst>
              <a:ext uri="{FF2B5EF4-FFF2-40B4-BE49-F238E27FC236}">
                <a16:creationId xmlns:a16="http://schemas.microsoft.com/office/drawing/2014/main" id="{511BC4C5-EB16-4C0B-83E6-96A39848CF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73B90B8B-F76B-4130-8370-38033EEACB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A1B474-66F0-2FEA-D17F-7A9F17D94CC7}"/>
              </a:ext>
            </a:extLst>
          </p:cNvPr>
          <p:cNvSpPr>
            <a:spLocks noGrp="1"/>
          </p:cNvSpPr>
          <p:nvPr>
            <p:ph type="title"/>
          </p:nvPr>
        </p:nvSpPr>
        <p:spPr>
          <a:xfrm>
            <a:off x="5144679" y="634946"/>
            <a:ext cx="6405063" cy="1450757"/>
          </a:xfrm>
        </p:spPr>
        <p:txBody>
          <a:bodyPr vert="horz" lIns="91440" tIns="45720" rIns="91440" bIns="45720" rtlCol="0" anchor="b">
            <a:normAutofit/>
          </a:bodyPr>
          <a:lstStyle/>
          <a:p>
            <a:r>
              <a:rPr lang="en-US" sz="4800">
                <a:solidFill>
                  <a:schemeClr val="tx1">
                    <a:lumMod val="75000"/>
                    <a:lumOff val="25000"/>
                  </a:schemeClr>
                </a:solidFill>
              </a:rPr>
              <a:t>Scatter and Box plots</a:t>
            </a:r>
          </a:p>
        </p:txBody>
      </p:sp>
      <p:pic>
        <p:nvPicPr>
          <p:cNvPr id="5" name="Content Placeholder 4">
            <a:extLst>
              <a:ext uri="{FF2B5EF4-FFF2-40B4-BE49-F238E27FC236}">
                <a16:creationId xmlns:a16="http://schemas.microsoft.com/office/drawing/2014/main" id="{46C83768-F110-7443-D0F7-536D114674FA}"/>
              </a:ext>
            </a:extLst>
          </p:cNvPr>
          <p:cNvPicPr>
            <a:picLocks noGrp="1" noChangeAspect="1"/>
          </p:cNvPicPr>
          <p:nvPr>
            <p:ph idx="1"/>
          </p:nvPr>
        </p:nvPicPr>
        <p:blipFill rotWithShape="1">
          <a:blip r:embed="rId2"/>
          <a:srcRect t="5479" r="3" b="7160"/>
          <a:stretch/>
        </p:blipFill>
        <p:spPr>
          <a:xfrm>
            <a:off x="633999" y="581098"/>
            <a:ext cx="4020297" cy="2476136"/>
          </a:xfrm>
          <a:prstGeom prst="rect">
            <a:avLst/>
          </a:prstGeom>
        </p:spPr>
      </p:pic>
      <p:cxnSp>
        <p:nvCxnSpPr>
          <p:cNvPr id="19" name="Straight Connector 18">
            <a:extLst>
              <a:ext uri="{FF2B5EF4-FFF2-40B4-BE49-F238E27FC236}">
                <a16:creationId xmlns:a16="http://schemas.microsoft.com/office/drawing/2014/main" id="{C2D93264-3FF9-4175-A7FA-F927F0F77A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81247" y="2086188"/>
            <a:ext cx="5852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96D968E0-D6DA-E6FD-3363-21B14194315F}"/>
              </a:ext>
            </a:extLst>
          </p:cNvPr>
          <p:cNvPicPr>
            <a:picLocks noChangeAspect="1"/>
          </p:cNvPicPr>
          <p:nvPr/>
        </p:nvPicPr>
        <p:blipFill rotWithShape="1">
          <a:blip r:embed="rId3"/>
          <a:srcRect t="13859" r="3" b="3"/>
          <a:stretch/>
        </p:blipFill>
        <p:spPr>
          <a:xfrm>
            <a:off x="633999" y="3218101"/>
            <a:ext cx="4020296" cy="2476136"/>
          </a:xfrm>
          <a:prstGeom prst="rect">
            <a:avLst/>
          </a:prstGeom>
        </p:spPr>
      </p:pic>
      <p:sp>
        <p:nvSpPr>
          <p:cNvPr id="4" name="Text Placeholder 3">
            <a:extLst>
              <a:ext uri="{FF2B5EF4-FFF2-40B4-BE49-F238E27FC236}">
                <a16:creationId xmlns:a16="http://schemas.microsoft.com/office/drawing/2014/main" id="{5EF72FAF-9FBF-2535-F095-45AB53E3C1D4}"/>
              </a:ext>
            </a:extLst>
          </p:cNvPr>
          <p:cNvSpPr>
            <a:spLocks noGrp="1"/>
          </p:cNvSpPr>
          <p:nvPr>
            <p:ph type="body" sz="half" idx="2"/>
          </p:nvPr>
        </p:nvSpPr>
        <p:spPr>
          <a:xfrm>
            <a:off x="5144679" y="2198914"/>
            <a:ext cx="6405063" cy="3670180"/>
          </a:xfrm>
        </p:spPr>
        <p:txBody>
          <a:bodyPr vert="horz" lIns="0" tIns="45720" rIns="0" bIns="45720" rtlCol="0">
            <a:normAutofit/>
          </a:bodyPr>
          <a:lstStyle/>
          <a:p>
            <a:r>
              <a:rPr lang="en-US" dirty="0">
                <a:solidFill>
                  <a:schemeClr val="tx1">
                    <a:lumMod val="75000"/>
                    <a:lumOff val="25000"/>
                  </a:schemeClr>
                </a:solidFill>
                <a:effectLst/>
              </a:rPr>
              <a:t>Below is the First and Second data visualization we created which is a scatter plot and boxplots for Total Sales vs Location. As we observe Commerce City has the highest sales with 352 followed by Greeley with 341 next comes Louisville with 337. All the boxplots for the locations are almost normally distributed and Commerce City and Greeley have a few outliers.</a:t>
            </a:r>
          </a:p>
          <a:p>
            <a:endParaRPr lang="en-US" dirty="0">
              <a:solidFill>
                <a:schemeClr val="tx1">
                  <a:lumMod val="75000"/>
                  <a:lumOff val="25000"/>
                </a:schemeClr>
              </a:solidFill>
            </a:endParaRPr>
          </a:p>
        </p:txBody>
      </p:sp>
      <p:sp>
        <p:nvSpPr>
          <p:cNvPr id="21" name="Rectangle 20">
            <a:extLst>
              <a:ext uri="{FF2B5EF4-FFF2-40B4-BE49-F238E27FC236}">
                <a16:creationId xmlns:a16="http://schemas.microsoft.com/office/drawing/2014/main" id="{91C67939-3FD0-4B45-8AA4-9FE55C7EE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3" name="Rectangle 22">
            <a:extLst>
              <a:ext uri="{FF2B5EF4-FFF2-40B4-BE49-F238E27FC236}">
                <a16:creationId xmlns:a16="http://schemas.microsoft.com/office/drawing/2014/main" id="{0981A96A-A87C-4F87-845A-3B0A6529F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23375965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B9A43-611A-345D-DA02-23E432887642}"/>
              </a:ext>
            </a:extLst>
          </p:cNvPr>
          <p:cNvSpPr>
            <a:spLocks noGrp="1"/>
          </p:cNvSpPr>
          <p:nvPr>
            <p:ph type="title"/>
          </p:nvPr>
        </p:nvSpPr>
        <p:spPr>
          <a:xfrm>
            <a:off x="457200" y="594359"/>
            <a:ext cx="3200400" cy="1279265"/>
          </a:xfrm>
        </p:spPr>
        <p:txBody>
          <a:bodyPr>
            <a:normAutofit fontScale="90000"/>
          </a:bodyPr>
          <a:lstStyle/>
          <a:p>
            <a:pPr algn="ctr"/>
            <a:r>
              <a:rPr lang="en-IN" dirty="0"/>
              <a:t>Bar Plot for Gender and Category</a:t>
            </a:r>
          </a:p>
        </p:txBody>
      </p:sp>
      <p:sp>
        <p:nvSpPr>
          <p:cNvPr id="4" name="Text Placeholder 3">
            <a:extLst>
              <a:ext uri="{FF2B5EF4-FFF2-40B4-BE49-F238E27FC236}">
                <a16:creationId xmlns:a16="http://schemas.microsoft.com/office/drawing/2014/main" id="{546BCCC6-4040-AF24-9CD6-463F57336D80}"/>
              </a:ext>
            </a:extLst>
          </p:cNvPr>
          <p:cNvSpPr>
            <a:spLocks noGrp="1"/>
          </p:cNvSpPr>
          <p:nvPr>
            <p:ph type="body" sz="half" idx="2"/>
          </p:nvPr>
        </p:nvSpPr>
        <p:spPr>
          <a:xfrm>
            <a:off x="457200" y="2411506"/>
            <a:ext cx="3200400" cy="3355816"/>
          </a:xfrm>
        </p:spPr>
        <p:txBody>
          <a:bodyPr/>
          <a:lstStyle/>
          <a:p>
            <a:r>
              <a:rPr lang="en-US" dirty="0"/>
              <a:t>The Third data visualization we created is a barplot for gender and category, as we observe there are 6 categories of products; Beverages, Daily Goods, Gadgets, Personal Care, Pet Care and Sports Equipment and two genders. Further, Females are more inclined in buying the Beverages, Pet Care and Sports Equipment, whereas Males often tend to buy Personal Care products and Daily Goods. Gadgets is only type of product where both Males and Females are equal. </a:t>
            </a:r>
            <a:endParaRPr lang="en-IN" dirty="0"/>
          </a:p>
        </p:txBody>
      </p:sp>
      <p:pic>
        <p:nvPicPr>
          <p:cNvPr id="6" name="Content Placeholder 5">
            <a:extLst>
              <a:ext uri="{FF2B5EF4-FFF2-40B4-BE49-F238E27FC236}">
                <a16:creationId xmlns:a16="http://schemas.microsoft.com/office/drawing/2014/main" id="{B8D54A72-1AAF-87BB-349D-C2DD4F4EDCC7}"/>
              </a:ext>
            </a:extLst>
          </p:cNvPr>
          <p:cNvPicPr>
            <a:picLocks noGrp="1" noChangeAspect="1"/>
          </p:cNvPicPr>
          <p:nvPr>
            <p:ph idx="1"/>
          </p:nvPr>
        </p:nvPicPr>
        <p:blipFill>
          <a:blip r:embed="rId2"/>
          <a:stretch>
            <a:fillRect/>
          </a:stretch>
        </p:blipFill>
        <p:spPr>
          <a:xfrm>
            <a:off x="4764742" y="693630"/>
            <a:ext cx="6492875" cy="1497322"/>
          </a:xfrm>
          <a:prstGeom prst="rect">
            <a:avLst/>
          </a:prstGeom>
        </p:spPr>
      </p:pic>
      <p:pic>
        <p:nvPicPr>
          <p:cNvPr id="7" name="Picture 6">
            <a:extLst>
              <a:ext uri="{FF2B5EF4-FFF2-40B4-BE49-F238E27FC236}">
                <a16:creationId xmlns:a16="http://schemas.microsoft.com/office/drawing/2014/main" id="{7E34B1E8-0AFF-C981-410D-F65C838B8072}"/>
              </a:ext>
            </a:extLst>
          </p:cNvPr>
          <p:cNvPicPr>
            <a:picLocks noChangeAspect="1"/>
          </p:cNvPicPr>
          <p:nvPr/>
        </p:nvPicPr>
        <p:blipFill>
          <a:blip r:embed="rId3"/>
          <a:stretch>
            <a:fillRect/>
          </a:stretch>
        </p:blipFill>
        <p:spPr>
          <a:xfrm>
            <a:off x="4764742" y="2582036"/>
            <a:ext cx="5944115" cy="4170025"/>
          </a:xfrm>
          <a:prstGeom prst="rect">
            <a:avLst/>
          </a:prstGeom>
        </p:spPr>
      </p:pic>
    </p:spTree>
    <p:extLst>
      <p:ext uri="{BB962C8B-B14F-4D97-AF65-F5344CB8AC3E}">
        <p14:creationId xmlns:p14="http://schemas.microsoft.com/office/powerpoint/2010/main" val="182790347"/>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73FA8-CA49-AB77-887D-2EF7FD992F49}"/>
              </a:ext>
            </a:extLst>
          </p:cNvPr>
          <p:cNvSpPr>
            <a:spLocks noGrp="1"/>
          </p:cNvSpPr>
          <p:nvPr>
            <p:ph type="title"/>
          </p:nvPr>
        </p:nvSpPr>
        <p:spPr>
          <a:xfrm>
            <a:off x="457199" y="594359"/>
            <a:ext cx="3290047" cy="1207547"/>
          </a:xfrm>
        </p:spPr>
        <p:txBody>
          <a:bodyPr>
            <a:normAutofit fontScale="90000"/>
          </a:bodyPr>
          <a:lstStyle/>
          <a:p>
            <a:pPr algn="ctr"/>
            <a:r>
              <a:rPr lang="en-IN" dirty="0"/>
              <a:t>Bar Plot for Customer Type and Mode of Payment </a:t>
            </a:r>
          </a:p>
        </p:txBody>
      </p:sp>
      <p:sp>
        <p:nvSpPr>
          <p:cNvPr id="4" name="Text Placeholder 3">
            <a:extLst>
              <a:ext uri="{FF2B5EF4-FFF2-40B4-BE49-F238E27FC236}">
                <a16:creationId xmlns:a16="http://schemas.microsoft.com/office/drawing/2014/main" id="{2C7F9214-FB3A-0F34-4549-443242E4A1E0}"/>
              </a:ext>
            </a:extLst>
          </p:cNvPr>
          <p:cNvSpPr>
            <a:spLocks noGrp="1"/>
          </p:cNvSpPr>
          <p:nvPr>
            <p:ph type="body" sz="half" idx="2"/>
          </p:nvPr>
        </p:nvSpPr>
        <p:spPr>
          <a:xfrm>
            <a:off x="457200" y="2277035"/>
            <a:ext cx="3200400" cy="4028169"/>
          </a:xfrm>
        </p:spPr>
        <p:txBody>
          <a:bodyPr>
            <a:normAutofit/>
          </a:bodyPr>
          <a:lstStyle/>
          <a:p>
            <a:r>
              <a:rPr lang="en-IN" sz="1800" dirty="0">
                <a:effectLst/>
                <a:ea typeface="Calibri" panose="020F0502020204030204" pitchFamily="34" charset="0"/>
                <a:cs typeface="Times New Roman" panose="02020603050405020304" pitchFamily="18" charset="0"/>
              </a:rPr>
              <a:t>The Fourth data visualization we created is a barplot for customer type and mode of payment, as we observe there are 3 types of payment methods; Card (Credit/Debit), Cash and Ewallet (New Trend). Further, there are two types of customers; Member and Non-member. Irrespective of the customer type most customers prefer to buy their goods via E-wallet, followed by Cash and Card.</a:t>
            </a:r>
          </a:p>
          <a:p>
            <a:endParaRPr lang="en-IN" dirty="0"/>
          </a:p>
        </p:txBody>
      </p:sp>
      <p:pic>
        <p:nvPicPr>
          <p:cNvPr id="5" name="Content Placeholder 4">
            <a:extLst>
              <a:ext uri="{FF2B5EF4-FFF2-40B4-BE49-F238E27FC236}">
                <a16:creationId xmlns:a16="http://schemas.microsoft.com/office/drawing/2014/main" id="{2E309109-599E-B828-A4A7-DD94F40BC3CD}"/>
              </a:ext>
            </a:extLst>
          </p:cNvPr>
          <p:cNvPicPr>
            <a:picLocks noGrp="1" noChangeAspect="1"/>
          </p:cNvPicPr>
          <p:nvPr>
            <p:ph idx="1"/>
          </p:nvPr>
        </p:nvPicPr>
        <p:blipFill>
          <a:blip r:embed="rId2"/>
          <a:stretch>
            <a:fillRect/>
          </a:stretch>
        </p:blipFill>
        <p:spPr>
          <a:xfrm>
            <a:off x="4782671" y="722703"/>
            <a:ext cx="6492875" cy="1690188"/>
          </a:xfrm>
          <a:prstGeom prst="rect">
            <a:avLst/>
          </a:prstGeom>
        </p:spPr>
      </p:pic>
      <p:pic>
        <p:nvPicPr>
          <p:cNvPr id="6" name="Picture 5">
            <a:extLst>
              <a:ext uri="{FF2B5EF4-FFF2-40B4-BE49-F238E27FC236}">
                <a16:creationId xmlns:a16="http://schemas.microsoft.com/office/drawing/2014/main" id="{9DC7360E-9D2D-9805-6F18-0ED5CAF55012}"/>
              </a:ext>
            </a:extLst>
          </p:cNvPr>
          <p:cNvPicPr>
            <a:picLocks noChangeAspect="1"/>
          </p:cNvPicPr>
          <p:nvPr/>
        </p:nvPicPr>
        <p:blipFill>
          <a:blip r:embed="rId3"/>
          <a:stretch>
            <a:fillRect/>
          </a:stretch>
        </p:blipFill>
        <p:spPr>
          <a:xfrm>
            <a:off x="4782671" y="2607385"/>
            <a:ext cx="5943600" cy="4107180"/>
          </a:xfrm>
          <a:prstGeom prst="rect">
            <a:avLst/>
          </a:prstGeom>
        </p:spPr>
      </p:pic>
    </p:spTree>
    <p:extLst>
      <p:ext uri="{BB962C8B-B14F-4D97-AF65-F5344CB8AC3E}">
        <p14:creationId xmlns:p14="http://schemas.microsoft.com/office/powerpoint/2010/main" val="406614275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F0D50-5399-AEDB-FB4F-A6CA063EF03A}"/>
              </a:ext>
            </a:extLst>
          </p:cNvPr>
          <p:cNvSpPr>
            <a:spLocks noGrp="1"/>
          </p:cNvSpPr>
          <p:nvPr>
            <p:ph type="title"/>
          </p:nvPr>
        </p:nvSpPr>
        <p:spPr>
          <a:xfrm>
            <a:off x="457200" y="475129"/>
            <a:ext cx="3200400" cy="1246095"/>
          </a:xfrm>
        </p:spPr>
        <p:txBody>
          <a:bodyPr>
            <a:normAutofit fontScale="90000"/>
          </a:bodyPr>
          <a:lstStyle/>
          <a:p>
            <a:pPr algn="ctr"/>
            <a:r>
              <a:rPr lang="en-IN" dirty="0"/>
              <a:t>Bar Plot for Location and Category</a:t>
            </a:r>
          </a:p>
        </p:txBody>
      </p:sp>
      <p:sp>
        <p:nvSpPr>
          <p:cNvPr id="4" name="Text Placeholder 3">
            <a:extLst>
              <a:ext uri="{FF2B5EF4-FFF2-40B4-BE49-F238E27FC236}">
                <a16:creationId xmlns:a16="http://schemas.microsoft.com/office/drawing/2014/main" id="{1EE8D5FB-EA12-A781-23DA-650D2251CA84}"/>
              </a:ext>
            </a:extLst>
          </p:cNvPr>
          <p:cNvSpPr>
            <a:spLocks noGrp="1"/>
          </p:cNvSpPr>
          <p:nvPr>
            <p:ph type="body" sz="half" idx="2"/>
          </p:nvPr>
        </p:nvSpPr>
        <p:spPr>
          <a:xfrm>
            <a:off x="457200" y="2250141"/>
            <a:ext cx="3200400" cy="4055063"/>
          </a:xfrm>
        </p:spPr>
        <p:txBody>
          <a:bodyPr>
            <a:normAutofit lnSpcReduction="10000"/>
          </a:bodyPr>
          <a:lstStyle/>
          <a:p>
            <a:r>
              <a:rPr lang="en-IN" sz="1800" dirty="0">
                <a:effectLst/>
                <a:ea typeface="Calibri" panose="020F0502020204030204" pitchFamily="34" charset="0"/>
                <a:cs typeface="Times New Roman" panose="02020603050405020304" pitchFamily="18" charset="0"/>
              </a:rPr>
              <a:t>The Fifth data visualization we created is a barplot for category and location, 6 categories of products; Beverages, Daily Goods, Gadgets, Personal Care, Pet Care and Sports Equipment. Further, there are 3 locations; Commerce City (1), Greeley (2) and Louisville (3). As, we observe Daily Goods in location 1 has the highest sales and least in location 2, Beverages in location 3 has the highest sales and least in location 2 and Sport Equipment has the highest sales in location 2 and least in location 3.</a:t>
            </a:r>
          </a:p>
          <a:p>
            <a:endParaRPr lang="en-IN" dirty="0"/>
          </a:p>
        </p:txBody>
      </p:sp>
      <p:pic>
        <p:nvPicPr>
          <p:cNvPr id="5" name="Content Placeholder 4">
            <a:extLst>
              <a:ext uri="{FF2B5EF4-FFF2-40B4-BE49-F238E27FC236}">
                <a16:creationId xmlns:a16="http://schemas.microsoft.com/office/drawing/2014/main" id="{A6AF02DA-EDCC-17F6-74F4-D3451363BDA7}"/>
              </a:ext>
            </a:extLst>
          </p:cNvPr>
          <p:cNvPicPr>
            <a:picLocks noGrp="1" noChangeAspect="1"/>
          </p:cNvPicPr>
          <p:nvPr>
            <p:ph idx="1"/>
          </p:nvPr>
        </p:nvPicPr>
        <p:blipFill>
          <a:blip r:embed="rId2"/>
          <a:stretch>
            <a:fillRect/>
          </a:stretch>
        </p:blipFill>
        <p:spPr>
          <a:xfrm>
            <a:off x="4675093" y="311866"/>
            <a:ext cx="6492875" cy="2118914"/>
          </a:xfrm>
          <a:prstGeom prst="rect">
            <a:avLst/>
          </a:prstGeom>
        </p:spPr>
      </p:pic>
      <p:pic>
        <p:nvPicPr>
          <p:cNvPr id="6" name="Picture 5">
            <a:extLst>
              <a:ext uri="{FF2B5EF4-FFF2-40B4-BE49-F238E27FC236}">
                <a16:creationId xmlns:a16="http://schemas.microsoft.com/office/drawing/2014/main" id="{060C456E-37AF-EABF-D10F-8C85DF3D9C3C}"/>
              </a:ext>
            </a:extLst>
          </p:cNvPr>
          <p:cNvPicPr>
            <a:picLocks noChangeAspect="1"/>
          </p:cNvPicPr>
          <p:nvPr/>
        </p:nvPicPr>
        <p:blipFill>
          <a:blip r:embed="rId3"/>
          <a:stretch>
            <a:fillRect/>
          </a:stretch>
        </p:blipFill>
        <p:spPr>
          <a:xfrm>
            <a:off x="4897736" y="2430780"/>
            <a:ext cx="5760720" cy="4427220"/>
          </a:xfrm>
          <a:prstGeom prst="rect">
            <a:avLst/>
          </a:prstGeom>
        </p:spPr>
      </p:pic>
    </p:spTree>
    <p:extLst>
      <p:ext uri="{BB962C8B-B14F-4D97-AF65-F5344CB8AC3E}">
        <p14:creationId xmlns:p14="http://schemas.microsoft.com/office/powerpoint/2010/main" val="340853235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5CA83-69EE-1D49-31BD-655C3983266E}"/>
              </a:ext>
            </a:extLst>
          </p:cNvPr>
          <p:cNvSpPr>
            <a:spLocks noGrp="1"/>
          </p:cNvSpPr>
          <p:nvPr>
            <p:ph type="title"/>
          </p:nvPr>
        </p:nvSpPr>
        <p:spPr>
          <a:xfrm>
            <a:off x="376518" y="675090"/>
            <a:ext cx="3200400" cy="1099922"/>
          </a:xfrm>
        </p:spPr>
        <p:txBody>
          <a:bodyPr>
            <a:normAutofit fontScale="90000"/>
          </a:bodyPr>
          <a:lstStyle/>
          <a:p>
            <a:pPr algn="ctr"/>
            <a:r>
              <a:rPr lang="en-IN" dirty="0"/>
              <a:t>Bar Plot for Gender and Location</a:t>
            </a:r>
          </a:p>
        </p:txBody>
      </p:sp>
      <p:sp>
        <p:nvSpPr>
          <p:cNvPr id="4" name="Text Placeholder 3">
            <a:extLst>
              <a:ext uri="{FF2B5EF4-FFF2-40B4-BE49-F238E27FC236}">
                <a16:creationId xmlns:a16="http://schemas.microsoft.com/office/drawing/2014/main" id="{1A496C9B-3C65-9524-E990-918280D1CCAA}"/>
              </a:ext>
            </a:extLst>
          </p:cNvPr>
          <p:cNvSpPr>
            <a:spLocks noGrp="1"/>
          </p:cNvSpPr>
          <p:nvPr>
            <p:ph type="body" sz="half" idx="2"/>
          </p:nvPr>
        </p:nvSpPr>
        <p:spPr>
          <a:xfrm>
            <a:off x="457200" y="2115671"/>
            <a:ext cx="3200400" cy="4189533"/>
          </a:xfrm>
        </p:spPr>
        <p:txBody>
          <a:bodyPr>
            <a:normAutofit/>
          </a:bodyPr>
          <a:lstStyle/>
          <a:p>
            <a:r>
              <a:rPr lang="en-IN" sz="1800" dirty="0">
                <a:effectLst/>
                <a:ea typeface="Calibri" panose="020F0502020204030204" pitchFamily="34" charset="0"/>
                <a:cs typeface="Times New Roman" panose="02020603050405020304" pitchFamily="18" charset="0"/>
              </a:rPr>
              <a:t>The Sixth data visualization we created is a barplot for gender and location. Gender; Male and Female. Further, there are 3 locations; Commerce City (1), Greeley (2) and Louisville (3). We can conclude a few things that most of males visit the location 1 and least at location 2 and most of the females visit the location 3 and least at location 3.</a:t>
            </a:r>
          </a:p>
          <a:p>
            <a:endParaRPr lang="en-IN" dirty="0"/>
          </a:p>
        </p:txBody>
      </p:sp>
      <p:pic>
        <p:nvPicPr>
          <p:cNvPr id="5" name="Content Placeholder 4">
            <a:extLst>
              <a:ext uri="{FF2B5EF4-FFF2-40B4-BE49-F238E27FC236}">
                <a16:creationId xmlns:a16="http://schemas.microsoft.com/office/drawing/2014/main" id="{6EAA1D2D-4DB0-45C0-9971-B93C9469AB11}"/>
              </a:ext>
            </a:extLst>
          </p:cNvPr>
          <p:cNvPicPr>
            <a:picLocks noGrp="1" noChangeAspect="1"/>
          </p:cNvPicPr>
          <p:nvPr>
            <p:ph idx="1"/>
          </p:nvPr>
        </p:nvPicPr>
        <p:blipFill>
          <a:blip r:embed="rId2"/>
          <a:stretch>
            <a:fillRect/>
          </a:stretch>
        </p:blipFill>
        <p:spPr>
          <a:xfrm>
            <a:off x="4746812" y="459937"/>
            <a:ext cx="6492875" cy="1857132"/>
          </a:xfrm>
          <a:prstGeom prst="rect">
            <a:avLst/>
          </a:prstGeom>
        </p:spPr>
      </p:pic>
      <p:pic>
        <p:nvPicPr>
          <p:cNvPr id="6" name="Picture 5">
            <a:extLst>
              <a:ext uri="{FF2B5EF4-FFF2-40B4-BE49-F238E27FC236}">
                <a16:creationId xmlns:a16="http://schemas.microsoft.com/office/drawing/2014/main" id="{F67CE980-DBC9-A4CA-4ECD-D95E92BF3BBF}"/>
              </a:ext>
            </a:extLst>
          </p:cNvPr>
          <p:cNvPicPr>
            <a:picLocks noChangeAspect="1"/>
          </p:cNvPicPr>
          <p:nvPr/>
        </p:nvPicPr>
        <p:blipFill>
          <a:blip r:embed="rId3"/>
          <a:stretch>
            <a:fillRect/>
          </a:stretch>
        </p:blipFill>
        <p:spPr>
          <a:xfrm>
            <a:off x="4746812" y="2668952"/>
            <a:ext cx="5943600" cy="3743960"/>
          </a:xfrm>
          <a:prstGeom prst="rect">
            <a:avLst/>
          </a:prstGeom>
        </p:spPr>
      </p:pic>
    </p:spTree>
    <p:extLst>
      <p:ext uri="{BB962C8B-B14F-4D97-AF65-F5344CB8AC3E}">
        <p14:creationId xmlns:p14="http://schemas.microsoft.com/office/powerpoint/2010/main" val="94988059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BCE6E-908D-EB28-9667-1C27F5732C08}"/>
              </a:ext>
            </a:extLst>
          </p:cNvPr>
          <p:cNvSpPr>
            <a:spLocks noGrp="1"/>
          </p:cNvSpPr>
          <p:nvPr>
            <p:ph type="title"/>
          </p:nvPr>
        </p:nvSpPr>
        <p:spPr>
          <a:xfrm>
            <a:off x="457200" y="594359"/>
            <a:ext cx="3200400" cy="1001359"/>
          </a:xfrm>
        </p:spPr>
        <p:txBody>
          <a:bodyPr>
            <a:normAutofit fontScale="90000"/>
          </a:bodyPr>
          <a:lstStyle/>
          <a:p>
            <a:pPr algn="ctr"/>
            <a:r>
              <a:rPr lang="en-IN" dirty="0"/>
              <a:t>Pie Chart for Total Sales with a Table</a:t>
            </a:r>
          </a:p>
        </p:txBody>
      </p:sp>
      <p:sp>
        <p:nvSpPr>
          <p:cNvPr id="4" name="Text Placeholder 3">
            <a:extLst>
              <a:ext uri="{FF2B5EF4-FFF2-40B4-BE49-F238E27FC236}">
                <a16:creationId xmlns:a16="http://schemas.microsoft.com/office/drawing/2014/main" id="{E5DEC23C-C00F-1A25-7A0F-A54819E163C1}"/>
              </a:ext>
            </a:extLst>
          </p:cNvPr>
          <p:cNvSpPr>
            <a:spLocks noGrp="1"/>
          </p:cNvSpPr>
          <p:nvPr>
            <p:ph type="body" sz="half" idx="2"/>
          </p:nvPr>
        </p:nvSpPr>
        <p:spPr>
          <a:xfrm>
            <a:off x="457200" y="2169459"/>
            <a:ext cx="3200400" cy="4135745"/>
          </a:xfrm>
        </p:spPr>
        <p:txBody>
          <a:bodyPr>
            <a:normAutofit lnSpcReduction="10000"/>
          </a:bodyPr>
          <a:lstStyle/>
          <a:p>
            <a:r>
              <a:rPr lang="en-IN" sz="1800" dirty="0">
                <a:effectLst/>
                <a:ea typeface="Calibri" panose="020F0502020204030204" pitchFamily="34" charset="0"/>
                <a:cs typeface="Times New Roman" panose="02020603050405020304" pitchFamily="18" charset="0"/>
              </a:rPr>
              <a:t>The Seventh data visualization is a pie chart which depicts the total percentage of total sales for each Location, as we observe Louisville take up the maximum percentage with 33.94% followed by Commerce City with 33.07% then comes Greeley with 32.99%. </a:t>
            </a:r>
            <a:r>
              <a:rPr lang="en-IN" sz="1800" dirty="0">
                <a:solidFill>
                  <a:schemeClr val="bg1"/>
                </a:solidFill>
                <a:effectLst/>
                <a:ea typeface="Times New Roman" panose="02020603050405020304" pitchFamily="18" charset="0"/>
                <a:cs typeface="Times New Roman" panose="02020603050405020304" pitchFamily="18" charset="0"/>
              </a:rPr>
              <a:t>A pie chart represents the data in the form of a “pie”; a circular graph. Each pie chart depicts different levels or portions of the data. The whole pie chart is 100%. </a:t>
            </a:r>
            <a:endParaRPr lang="en-IN" sz="1800" dirty="0">
              <a:solidFill>
                <a:schemeClr val="bg1"/>
              </a:solidFill>
              <a:effectLst/>
              <a:ea typeface="Calibri" panose="020F0502020204030204" pitchFamily="34" charset="0"/>
              <a:cs typeface="Times New Roman" panose="02020603050405020304" pitchFamily="18" charset="0"/>
            </a:endParaRPr>
          </a:p>
          <a:p>
            <a:r>
              <a:rPr lang="en-IN" sz="1800" dirty="0">
                <a:solidFill>
                  <a:schemeClr val="bg1"/>
                </a:solidFill>
                <a:effectLst/>
                <a:ea typeface="Times New Roman" panose="02020603050405020304" pitchFamily="18" charset="0"/>
                <a:cs typeface="Times New Roman" panose="02020603050405020304" pitchFamily="18" charset="0"/>
              </a:rPr>
              <a:t>The pie chart is followed by a table which displays the percentage of total sales.</a:t>
            </a:r>
            <a:endParaRPr lang="en-IN" sz="1800" dirty="0">
              <a:solidFill>
                <a:schemeClr val="bg1"/>
              </a:solidFill>
              <a:effectLst/>
              <a:ea typeface="Calibri" panose="020F0502020204030204" pitchFamily="34" charset="0"/>
              <a:cs typeface="Times New Roman" panose="02020603050405020304" pitchFamily="18" charset="0"/>
            </a:endParaRPr>
          </a:p>
          <a:p>
            <a:endParaRPr lang="en-IN" dirty="0"/>
          </a:p>
        </p:txBody>
      </p:sp>
      <p:pic>
        <p:nvPicPr>
          <p:cNvPr id="5" name="Content Placeholder 4">
            <a:extLst>
              <a:ext uri="{FF2B5EF4-FFF2-40B4-BE49-F238E27FC236}">
                <a16:creationId xmlns:a16="http://schemas.microsoft.com/office/drawing/2014/main" id="{DCF2A045-0B46-BC13-8309-EE8A5B6465E4}"/>
              </a:ext>
            </a:extLst>
          </p:cNvPr>
          <p:cNvPicPr>
            <a:picLocks noGrp="1" noChangeAspect="1"/>
          </p:cNvPicPr>
          <p:nvPr>
            <p:ph idx="1"/>
          </p:nvPr>
        </p:nvPicPr>
        <p:blipFill>
          <a:blip r:embed="rId2"/>
          <a:stretch>
            <a:fillRect/>
          </a:stretch>
        </p:blipFill>
        <p:spPr>
          <a:xfrm>
            <a:off x="5533536" y="224634"/>
            <a:ext cx="4883451" cy="3889649"/>
          </a:xfrm>
          <a:prstGeom prst="rect">
            <a:avLst/>
          </a:prstGeom>
        </p:spPr>
      </p:pic>
      <p:pic>
        <p:nvPicPr>
          <p:cNvPr id="6" name="Picture 5">
            <a:extLst>
              <a:ext uri="{FF2B5EF4-FFF2-40B4-BE49-F238E27FC236}">
                <a16:creationId xmlns:a16="http://schemas.microsoft.com/office/drawing/2014/main" id="{C94A6D10-54B4-31CF-287E-73DA67999756}"/>
              </a:ext>
            </a:extLst>
          </p:cNvPr>
          <p:cNvPicPr>
            <a:picLocks noChangeAspect="1"/>
          </p:cNvPicPr>
          <p:nvPr/>
        </p:nvPicPr>
        <p:blipFill>
          <a:blip r:embed="rId3"/>
          <a:stretch>
            <a:fillRect/>
          </a:stretch>
        </p:blipFill>
        <p:spPr>
          <a:xfrm>
            <a:off x="5770133" y="4696384"/>
            <a:ext cx="3642808" cy="1544465"/>
          </a:xfrm>
          <a:prstGeom prst="rect">
            <a:avLst/>
          </a:prstGeom>
        </p:spPr>
      </p:pic>
    </p:spTree>
    <p:extLst>
      <p:ext uri="{BB962C8B-B14F-4D97-AF65-F5344CB8AC3E}">
        <p14:creationId xmlns:p14="http://schemas.microsoft.com/office/powerpoint/2010/main" val="171072728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70BB1-FC1F-208F-FB99-29A944E74B22}"/>
              </a:ext>
            </a:extLst>
          </p:cNvPr>
          <p:cNvSpPr>
            <a:spLocks noGrp="1"/>
          </p:cNvSpPr>
          <p:nvPr>
            <p:ph type="title"/>
          </p:nvPr>
        </p:nvSpPr>
        <p:spPr>
          <a:xfrm>
            <a:off x="457200" y="594359"/>
            <a:ext cx="3137647" cy="1091006"/>
          </a:xfrm>
        </p:spPr>
        <p:txBody>
          <a:bodyPr/>
          <a:lstStyle/>
          <a:p>
            <a:pPr algn="ctr"/>
            <a:r>
              <a:rPr lang="en-IN" dirty="0"/>
              <a:t>Scatter Plot with Trend Line</a:t>
            </a:r>
          </a:p>
        </p:txBody>
      </p:sp>
      <p:sp>
        <p:nvSpPr>
          <p:cNvPr id="4" name="Text Placeholder 3">
            <a:extLst>
              <a:ext uri="{FF2B5EF4-FFF2-40B4-BE49-F238E27FC236}">
                <a16:creationId xmlns:a16="http://schemas.microsoft.com/office/drawing/2014/main" id="{FE63D9C9-E474-912D-CF1F-8B9BA33C43B9}"/>
              </a:ext>
            </a:extLst>
          </p:cNvPr>
          <p:cNvSpPr>
            <a:spLocks noGrp="1"/>
          </p:cNvSpPr>
          <p:nvPr>
            <p:ph type="body" sz="half" idx="2"/>
          </p:nvPr>
        </p:nvSpPr>
        <p:spPr>
          <a:xfrm>
            <a:off x="457200" y="2223247"/>
            <a:ext cx="3200400" cy="4081957"/>
          </a:xfrm>
        </p:spPr>
        <p:txBody>
          <a:bodyPr>
            <a:normAutofit/>
          </a:bodyPr>
          <a:lstStyle/>
          <a:p>
            <a:r>
              <a:rPr lang="en-IN" sz="1800" dirty="0">
                <a:effectLst/>
                <a:ea typeface="Calibri" panose="020F0502020204030204" pitchFamily="34" charset="0"/>
                <a:cs typeface="Times New Roman" panose="02020603050405020304" pitchFamily="18" charset="0"/>
              </a:rPr>
              <a:t>The Eight and Last data visualization are two scatter plots; one with normal scatter plot and the other with scatter plot with the trend line. The scatter plot is plotted for Quantity vs Gross Income, there exists a positive relationship between the two, which further means that the gross income increases when the quantity is high. </a:t>
            </a:r>
          </a:p>
          <a:p>
            <a:endParaRPr lang="en-IN" dirty="0"/>
          </a:p>
        </p:txBody>
      </p:sp>
      <p:pic>
        <p:nvPicPr>
          <p:cNvPr id="5" name="Content Placeholder 4">
            <a:extLst>
              <a:ext uri="{FF2B5EF4-FFF2-40B4-BE49-F238E27FC236}">
                <a16:creationId xmlns:a16="http://schemas.microsoft.com/office/drawing/2014/main" id="{FBC05B11-C9E4-47CC-78D9-2A7FB2486340}"/>
              </a:ext>
            </a:extLst>
          </p:cNvPr>
          <p:cNvPicPr>
            <a:picLocks noGrp="1" noChangeAspect="1"/>
          </p:cNvPicPr>
          <p:nvPr>
            <p:ph idx="1"/>
          </p:nvPr>
        </p:nvPicPr>
        <p:blipFill>
          <a:blip r:embed="rId2"/>
          <a:stretch>
            <a:fillRect/>
          </a:stretch>
        </p:blipFill>
        <p:spPr>
          <a:xfrm>
            <a:off x="5271786" y="594359"/>
            <a:ext cx="5227773" cy="342930"/>
          </a:xfrm>
          <a:prstGeom prst="rect">
            <a:avLst/>
          </a:prstGeom>
        </p:spPr>
      </p:pic>
      <p:pic>
        <p:nvPicPr>
          <p:cNvPr id="6" name="Picture 5">
            <a:extLst>
              <a:ext uri="{FF2B5EF4-FFF2-40B4-BE49-F238E27FC236}">
                <a16:creationId xmlns:a16="http://schemas.microsoft.com/office/drawing/2014/main" id="{9610738B-A13F-AF69-4B58-04F5856112FE}"/>
              </a:ext>
            </a:extLst>
          </p:cNvPr>
          <p:cNvPicPr>
            <a:picLocks noChangeAspect="1"/>
          </p:cNvPicPr>
          <p:nvPr/>
        </p:nvPicPr>
        <p:blipFill>
          <a:blip r:embed="rId3"/>
          <a:stretch>
            <a:fillRect/>
          </a:stretch>
        </p:blipFill>
        <p:spPr>
          <a:xfrm>
            <a:off x="5689767" y="937289"/>
            <a:ext cx="4202682" cy="2939675"/>
          </a:xfrm>
          <a:prstGeom prst="rect">
            <a:avLst/>
          </a:prstGeom>
        </p:spPr>
      </p:pic>
      <p:pic>
        <p:nvPicPr>
          <p:cNvPr id="7" name="Picture 6">
            <a:extLst>
              <a:ext uri="{FF2B5EF4-FFF2-40B4-BE49-F238E27FC236}">
                <a16:creationId xmlns:a16="http://schemas.microsoft.com/office/drawing/2014/main" id="{83BA8916-3B3D-8EA9-6DC4-FA7F5920572D}"/>
              </a:ext>
            </a:extLst>
          </p:cNvPr>
          <p:cNvPicPr>
            <a:picLocks noChangeAspect="1"/>
          </p:cNvPicPr>
          <p:nvPr/>
        </p:nvPicPr>
        <p:blipFill>
          <a:blip r:embed="rId4"/>
          <a:stretch>
            <a:fillRect/>
          </a:stretch>
        </p:blipFill>
        <p:spPr>
          <a:xfrm>
            <a:off x="5878894" y="3814859"/>
            <a:ext cx="4013555" cy="2766803"/>
          </a:xfrm>
          <a:prstGeom prst="rect">
            <a:avLst/>
          </a:prstGeom>
        </p:spPr>
      </p:pic>
    </p:spTree>
    <p:extLst>
      <p:ext uri="{BB962C8B-B14F-4D97-AF65-F5344CB8AC3E}">
        <p14:creationId xmlns:p14="http://schemas.microsoft.com/office/powerpoint/2010/main" val="273787354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9E452-0C9F-A665-6240-59BFD78C6EFB}"/>
              </a:ext>
            </a:extLst>
          </p:cNvPr>
          <p:cNvSpPr>
            <a:spLocks noGrp="1"/>
          </p:cNvSpPr>
          <p:nvPr>
            <p:ph type="title"/>
          </p:nvPr>
        </p:nvSpPr>
        <p:spPr>
          <a:xfrm>
            <a:off x="457200" y="594359"/>
            <a:ext cx="2985247" cy="1064112"/>
          </a:xfrm>
        </p:spPr>
        <p:txBody>
          <a:bodyPr/>
          <a:lstStyle/>
          <a:p>
            <a:pPr algn="ctr"/>
            <a:r>
              <a:rPr lang="en-IN" dirty="0"/>
              <a:t>SISO Model</a:t>
            </a:r>
          </a:p>
        </p:txBody>
      </p:sp>
      <p:sp>
        <p:nvSpPr>
          <p:cNvPr id="4" name="Text Placeholder 3">
            <a:extLst>
              <a:ext uri="{FF2B5EF4-FFF2-40B4-BE49-F238E27FC236}">
                <a16:creationId xmlns:a16="http://schemas.microsoft.com/office/drawing/2014/main" id="{38478E34-DFBC-5C72-A24C-702740C94A88}"/>
              </a:ext>
            </a:extLst>
          </p:cNvPr>
          <p:cNvSpPr>
            <a:spLocks noGrp="1"/>
          </p:cNvSpPr>
          <p:nvPr>
            <p:ph type="body" sz="half" idx="2"/>
          </p:nvPr>
        </p:nvSpPr>
        <p:spPr>
          <a:xfrm>
            <a:off x="457200" y="1990165"/>
            <a:ext cx="3200400" cy="4315039"/>
          </a:xfrm>
        </p:spPr>
        <p:txBody>
          <a:bodyPr>
            <a:normAutofit lnSpcReduction="10000"/>
          </a:bodyPr>
          <a:lstStyle/>
          <a:p>
            <a:pPr algn="just">
              <a:lnSpc>
                <a:spcPct val="107000"/>
              </a:lnSpc>
              <a:spcAft>
                <a:spcPts val="800"/>
              </a:spcAft>
            </a:pPr>
            <a:r>
              <a:rPr lang="en-IN" sz="1800" dirty="0">
                <a:effectLst/>
                <a:ea typeface="Calibri" panose="020F0502020204030204" pitchFamily="34" charset="0"/>
                <a:cs typeface="Times New Roman" panose="02020603050405020304" pitchFamily="18" charset="0"/>
              </a:rPr>
              <a:t>A multiple linear model is a statistical model used to find and analyse the linear relationship between one dependent variables and multiple independent variables. In simple words it’s a regression model which includes two or more predictors. </a:t>
            </a:r>
          </a:p>
          <a:p>
            <a:pPr algn="just">
              <a:lnSpc>
                <a:spcPct val="107000"/>
              </a:lnSpc>
              <a:spcAft>
                <a:spcPts val="800"/>
              </a:spcAft>
            </a:pPr>
            <a:r>
              <a:rPr lang="en-IN" sz="1800" dirty="0">
                <a:effectLst/>
                <a:ea typeface="Calibri" panose="020F0502020204030204" pitchFamily="34" charset="0"/>
                <a:cs typeface="Times New Roman" panose="02020603050405020304" pitchFamily="18" charset="0"/>
              </a:rPr>
              <a:t>We first created a SISO Model (Single Input with Single Output) and we got R Square value of 100% and our Adjusted R Square value of same 100%. </a:t>
            </a:r>
          </a:p>
          <a:p>
            <a:endParaRPr lang="en-IN" dirty="0"/>
          </a:p>
        </p:txBody>
      </p:sp>
      <p:pic>
        <p:nvPicPr>
          <p:cNvPr id="5" name="Content Placeholder 4">
            <a:extLst>
              <a:ext uri="{FF2B5EF4-FFF2-40B4-BE49-F238E27FC236}">
                <a16:creationId xmlns:a16="http://schemas.microsoft.com/office/drawing/2014/main" id="{833F8B6E-5CEE-A9E5-CF70-AC38061C59C3}"/>
              </a:ext>
            </a:extLst>
          </p:cNvPr>
          <p:cNvPicPr>
            <a:picLocks noGrp="1" noChangeAspect="1"/>
          </p:cNvPicPr>
          <p:nvPr>
            <p:ph idx="1"/>
          </p:nvPr>
        </p:nvPicPr>
        <p:blipFill>
          <a:blip r:embed="rId2"/>
          <a:stretch>
            <a:fillRect/>
          </a:stretch>
        </p:blipFill>
        <p:spPr>
          <a:xfrm>
            <a:off x="4838739" y="1748968"/>
            <a:ext cx="6416596" cy="3223539"/>
          </a:xfrm>
          <a:prstGeom prst="rect">
            <a:avLst/>
          </a:prstGeom>
        </p:spPr>
      </p:pic>
    </p:spTree>
    <p:extLst>
      <p:ext uri="{BB962C8B-B14F-4D97-AF65-F5344CB8AC3E}">
        <p14:creationId xmlns:p14="http://schemas.microsoft.com/office/powerpoint/2010/main" val="1745535594"/>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0932A-365A-13F9-776E-16F365DD549A}"/>
              </a:ext>
            </a:extLst>
          </p:cNvPr>
          <p:cNvSpPr>
            <a:spLocks noGrp="1"/>
          </p:cNvSpPr>
          <p:nvPr>
            <p:ph type="title"/>
          </p:nvPr>
        </p:nvSpPr>
        <p:spPr>
          <a:xfrm>
            <a:off x="457200" y="594359"/>
            <a:ext cx="3200400" cy="1228593"/>
          </a:xfrm>
        </p:spPr>
        <p:txBody>
          <a:bodyPr/>
          <a:lstStyle/>
          <a:p>
            <a:pPr algn="ctr"/>
            <a:r>
              <a:rPr lang="en-IN" dirty="0"/>
              <a:t>MISO Model</a:t>
            </a:r>
          </a:p>
        </p:txBody>
      </p:sp>
      <p:sp>
        <p:nvSpPr>
          <p:cNvPr id="4" name="Text Placeholder 3">
            <a:extLst>
              <a:ext uri="{FF2B5EF4-FFF2-40B4-BE49-F238E27FC236}">
                <a16:creationId xmlns:a16="http://schemas.microsoft.com/office/drawing/2014/main" id="{BCA085A0-ED5E-6D0D-E194-95FB7EF87808}"/>
              </a:ext>
            </a:extLst>
          </p:cNvPr>
          <p:cNvSpPr>
            <a:spLocks noGrp="1"/>
          </p:cNvSpPr>
          <p:nvPr>
            <p:ph type="body" sz="half" idx="2"/>
          </p:nvPr>
        </p:nvSpPr>
        <p:spPr>
          <a:xfrm>
            <a:off x="457200" y="2223247"/>
            <a:ext cx="3200400" cy="4081957"/>
          </a:xfrm>
        </p:spPr>
        <p:txBody>
          <a:bodyPr>
            <a:normAutofit/>
          </a:bodyPr>
          <a:lstStyle/>
          <a:p>
            <a:r>
              <a:rPr lang="en-IN" sz="1800" dirty="0">
                <a:effectLst/>
                <a:ea typeface="Calibri" panose="020F0502020204030204" pitchFamily="34" charset="0"/>
                <a:cs typeface="Times New Roman" panose="02020603050405020304" pitchFamily="18" charset="0"/>
              </a:rPr>
              <a:t>Next, we went on creating a series of MISO Models (Multiple Inputs with a Single Output), we finally selected two MISO models one with the Total (Dependent Variable) and two Independent Variables (Price unit and Quantity). Our next MISO model has the same Dependent Variable with two different Independent Variables (Price unit and Gross Income)</a:t>
            </a:r>
          </a:p>
          <a:p>
            <a:endParaRPr lang="en-IN" dirty="0"/>
          </a:p>
        </p:txBody>
      </p:sp>
      <p:pic>
        <p:nvPicPr>
          <p:cNvPr id="5" name="Content Placeholder 4">
            <a:extLst>
              <a:ext uri="{FF2B5EF4-FFF2-40B4-BE49-F238E27FC236}">
                <a16:creationId xmlns:a16="http://schemas.microsoft.com/office/drawing/2014/main" id="{4B2804CE-CB9B-D9A8-C705-B66C943452AF}"/>
              </a:ext>
            </a:extLst>
          </p:cNvPr>
          <p:cNvPicPr>
            <a:picLocks noGrp="1" noChangeAspect="1"/>
          </p:cNvPicPr>
          <p:nvPr>
            <p:ph idx="1"/>
          </p:nvPr>
        </p:nvPicPr>
        <p:blipFill>
          <a:blip r:embed="rId2"/>
          <a:stretch>
            <a:fillRect/>
          </a:stretch>
        </p:blipFill>
        <p:spPr>
          <a:xfrm>
            <a:off x="4854389" y="302628"/>
            <a:ext cx="6492875" cy="5742572"/>
          </a:xfrm>
          <a:prstGeom prst="rect">
            <a:avLst/>
          </a:prstGeom>
        </p:spPr>
      </p:pic>
    </p:spTree>
    <p:extLst>
      <p:ext uri="{BB962C8B-B14F-4D97-AF65-F5344CB8AC3E}">
        <p14:creationId xmlns:p14="http://schemas.microsoft.com/office/powerpoint/2010/main" val="1962111888"/>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A5651D-4DDC-FC63-2841-051F71482C8F}"/>
              </a:ext>
            </a:extLst>
          </p:cNvPr>
          <p:cNvPicPr>
            <a:picLocks noChangeAspect="1"/>
          </p:cNvPicPr>
          <p:nvPr/>
        </p:nvPicPr>
        <p:blipFill>
          <a:blip r:embed="rId2"/>
          <a:stretch>
            <a:fillRect/>
          </a:stretch>
        </p:blipFill>
        <p:spPr>
          <a:xfrm>
            <a:off x="152400" y="284144"/>
            <a:ext cx="5697071" cy="2883838"/>
          </a:xfrm>
          <a:prstGeom prst="rect">
            <a:avLst/>
          </a:prstGeom>
        </p:spPr>
      </p:pic>
      <p:pic>
        <p:nvPicPr>
          <p:cNvPr id="6" name="Picture 5">
            <a:extLst>
              <a:ext uri="{FF2B5EF4-FFF2-40B4-BE49-F238E27FC236}">
                <a16:creationId xmlns:a16="http://schemas.microsoft.com/office/drawing/2014/main" id="{F58417B9-5601-A902-0251-B7B63E06C585}"/>
              </a:ext>
            </a:extLst>
          </p:cNvPr>
          <p:cNvPicPr>
            <a:picLocks noChangeAspect="1"/>
          </p:cNvPicPr>
          <p:nvPr/>
        </p:nvPicPr>
        <p:blipFill>
          <a:blip r:embed="rId3"/>
          <a:stretch>
            <a:fillRect/>
          </a:stretch>
        </p:blipFill>
        <p:spPr>
          <a:xfrm>
            <a:off x="6342530" y="284144"/>
            <a:ext cx="5808267" cy="3008630"/>
          </a:xfrm>
          <a:prstGeom prst="rect">
            <a:avLst/>
          </a:prstGeom>
        </p:spPr>
      </p:pic>
      <p:pic>
        <p:nvPicPr>
          <p:cNvPr id="7" name="Picture 6">
            <a:extLst>
              <a:ext uri="{FF2B5EF4-FFF2-40B4-BE49-F238E27FC236}">
                <a16:creationId xmlns:a16="http://schemas.microsoft.com/office/drawing/2014/main" id="{32785C7C-DBE7-4335-86E9-9E29CA25FB84}"/>
              </a:ext>
            </a:extLst>
          </p:cNvPr>
          <p:cNvPicPr>
            <a:picLocks noChangeAspect="1"/>
          </p:cNvPicPr>
          <p:nvPr/>
        </p:nvPicPr>
        <p:blipFill>
          <a:blip r:embed="rId4"/>
          <a:stretch>
            <a:fillRect/>
          </a:stretch>
        </p:blipFill>
        <p:spPr>
          <a:xfrm>
            <a:off x="152400" y="3292774"/>
            <a:ext cx="5717588" cy="2883839"/>
          </a:xfrm>
          <a:prstGeom prst="rect">
            <a:avLst/>
          </a:prstGeom>
        </p:spPr>
      </p:pic>
      <p:pic>
        <p:nvPicPr>
          <p:cNvPr id="8" name="Picture 7">
            <a:extLst>
              <a:ext uri="{FF2B5EF4-FFF2-40B4-BE49-F238E27FC236}">
                <a16:creationId xmlns:a16="http://schemas.microsoft.com/office/drawing/2014/main" id="{5DD668B2-5C5A-56BA-57C0-20E2E23CC17E}"/>
              </a:ext>
            </a:extLst>
          </p:cNvPr>
          <p:cNvPicPr>
            <a:picLocks noChangeAspect="1"/>
          </p:cNvPicPr>
          <p:nvPr/>
        </p:nvPicPr>
        <p:blipFill>
          <a:blip r:embed="rId5"/>
          <a:stretch>
            <a:fillRect/>
          </a:stretch>
        </p:blipFill>
        <p:spPr>
          <a:xfrm>
            <a:off x="6363047" y="3292774"/>
            <a:ext cx="4699400" cy="2883839"/>
          </a:xfrm>
          <a:prstGeom prst="rect">
            <a:avLst/>
          </a:prstGeom>
        </p:spPr>
      </p:pic>
    </p:spTree>
    <p:extLst>
      <p:ext uri="{BB962C8B-B14F-4D97-AF65-F5344CB8AC3E}">
        <p14:creationId xmlns:p14="http://schemas.microsoft.com/office/powerpoint/2010/main" val="106765083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9" name="Rectangle 18">
            <a:extLst>
              <a:ext uri="{FF2B5EF4-FFF2-40B4-BE49-F238E27FC236}">
                <a16:creationId xmlns:a16="http://schemas.microsoft.com/office/drawing/2014/main" id="{2C7211D9-E545-4D00-9874-641EC7C7B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DBBC34A-8C43-4368-951E-A04EB7C00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w="22225">
            <a:solidFill>
              <a:srgbClr val="091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9">
            <a:extLst>
              <a:ext uri="{FF2B5EF4-FFF2-40B4-BE49-F238E27FC236}">
                <a16:creationId xmlns:a16="http://schemas.microsoft.com/office/drawing/2014/main" id="{C62FB453-659B-2B8F-1068-D2C13D030C32}"/>
              </a:ext>
            </a:extLst>
          </p:cNvPr>
          <p:cNvPicPr>
            <a:picLocks noGrp="1" noChangeAspect="1"/>
          </p:cNvPicPr>
          <p:nvPr>
            <p:ph idx="1"/>
          </p:nvPr>
        </p:nvPicPr>
        <p:blipFill>
          <a:blip r:embed="rId2"/>
          <a:stretch>
            <a:fillRect/>
          </a:stretch>
        </p:blipFill>
        <p:spPr>
          <a:xfrm>
            <a:off x="3881925" y="801793"/>
            <a:ext cx="4422561" cy="5249332"/>
          </a:xfrm>
          <a:prstGeom prst="rect">
            <a:avLst/>
          </a:prstGeom>
        </p:spPr>
      </p:pic>
    </p:spTree>
    <p:extLst>
      <p:ext uri="{BB962C8B-B14F-4D97-AF65-F5344CB8AC3E}">
        <p14:creationId xmlns:p14="http://schemas.microsoft.com/office/powerpoint/2010/main" val="393294521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335CC-786A-2208-A944-9620B8BCC1B5}"/>
              </a:ext>
            </a:extLst>
          </p:cNvPr>
          <p:cNvSpPr>
            <a:spLocks noGrp="1"/>
          </p:cNvSpPr>
          <p:nvPr>
            <p:ph type="title"/>
          </p:nvPr>
        </p:nvSpPr>
        <p:spPr>
          <a:xfrm>
            <a:off x="457200" y="594359"/>
            <a:ext cx="3200400" cy="1252370"/>
          </a:xfrm>
        </p:spPr>
        <p:txBody>
          <a:bodyPr/>
          <a:lstStyle/>
          <a:p>
            <a:pPr algn="ctr"/>
            <a:r>
              <a:rPr lang="en-IN" dirty="0"/>
              <a:t>Pairs Plot</a:t>
            </a:r>
          </a:p>
        </p:txBody>
      </p:sp>
      <p:sp>
        <p:nvSpPr>
          <p:cNvPr id="4" name="Text Placeholder 3">
            <a:extLst>
              <a:ext uri="{FF2B5EF4-FFF2-40B4-BE49-F238E27FC236}">
                <a16:creationId xmlns:a16="http://schemas.microsoft.com/office/drawing/2014/main" id="{79FC37A2-47EF-91D2-7E53-315C010EFB6D}"/>
              </a:ext>
            </a:extLst>
          </p:cNvPr>
          <p:cNvSpPr>
            <a:spLocks noGrp="1"/>
          </p:cNvSpPr>
          <p:nvPr>
            <p:ph type="body" sz="half" idx="2"/>
          </p:nvPr>
        </p:nvSpPr>
        <p:spPr>
          <a:xfrm>
            <a:off x="457200" y="2312894"/>
            <a:ext cx="3200400" cy="3992310"/>
          </a:xfrm>
        </p:spPr>
        <p:txBody>
          <a:bodyPr/>
          <a:lstStyle/>
          <a:p>
            <a:r>
              <a:rPr lang="en-IN" sz="1800" dirty="0">
                <a:effectLst/>
                <a:ea typeface="Calibri" panose="020F0502020204030204" pitchFamily="34" charset="0"/>
                <a:cs typeface="Times New Roman" panose="02020603050405020304" pitchFamily="18" charset="0"/>
              </a:rPr>
              <a:t>We, then plotted a pairs plot for the cleaned dataset (store_cleaned_2), we use the pairs plot to check relationship of each Independent Variable for the Dependent Variable and to understand the clusters. As we observe, most of the plots are right skewed and a few with a different one. </a:t>
            </a:r>
          </a:p>
          <a:p>
            <a:endParaRPr lang="en-IN" dirty="0"/>
          </a:p>
        </p:txBody>
      </p:sp>
      <p:pic>
        <p:nvPicPr>
          <p:cNvPr id="5" name="Content Placeholder 4">
            <a:extLst>
              <a:ext uri="{FF2B5EF4-FFF2-40B4-BE49-F238E27FC236}">
                <a16:creationId xmlns:a16="http://schemas.microsoft.com/office/drawing/2014/main" id="{029476C3-D358-B8B0-9634-D1A9B5C70467}"/>
              </a:ext>
            </a:extLst>
          </p:cNvPr>
          <p:cNvPicPr>
            <a:picLocks noGrp="1" noChangeAspect="1"/>
          </p:cNvPicPr>
          <p:nvPr>
            <p:ph idx="1"/>
          </p:nvPr>
        </p:nvPicPr>
        <p:blipFill>
          <a:blip r:embed="rId2"/>
          <a:stretch>
            <a:fillRect/>
          </a:stretch>
        </p:blipFill>
        <p:spPr>
          <a:xfrm>
            <a:off x="4956859" y="1196470"/>
            <a:ext cx="6180356" cy="4328535"/>
          </a:xfrm>
          <a:prstGeom prst="rect">
            <a:avLst/>
          </a:prstGeom>
        </p:spPr>
      </p:pic>
    </p:spTree>
    <p:extLst>
      <p:ext uri="{BB962C8B-B14F-4D97-AF65-F5344CB8AC3E}">
        <p14:creationId xmlns:p14="http://schemas.microsoft.com/office/powerpoint/2010/main" val="394955617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0D50C-AEC3-3039-C7F5-8CAA00270B22}"/>
              </a:ext>
            </a:extLst>
          </p:cNvPr>
          <p:cNvSpPr>
            <a:spLocks noGrp="1"/>
          </p:cNvSpPr>
          <p:nvPr>
            <p:ph type="title"/>
          </p:nvPr>
        </p:nvSpPr>
        <p:spPr>
          <a:xfrm>
            <a:off x="457200" y="594359"/>
            <a:ext cx="3200400" cy="535194"/>
          </a:xfrm>
        </p:spPr>
        <p:txBody>
          <a:bodyPr>
            <a:normAutofit fontScale="90000"/>
          </a:bodyPr>
          <a:lstStyle/>
          <a:p>
            <a:pPr algn="ctr"/>
            <a:r>
              <a:rPr lang="en-IN" dirty="0"/>
              <a:t>Linear Regression Model</a:t>
            </a:r>
          </a:p>
        </p:txBody>
      </p:sp>
      <p:sp>
        <p:nvSpPr>
          <p:cNvPr id="4" name="Text Placeholder 3">
            <a:extLst>
              <a:ext uri="{FF2B5EF4-FFF2-40B4-BE49-F238E27FC236}">
                <a16:creationId xmlns:a16="http://schemas.microsoft.com/office/drawing/2014/main" id="{FA855B7D-0A12-0BD8-3A4E-186EC62A453D}"/>
              </a:ext>
            </a:extLst>
          </p:cNvPr>
          <p:cNvSpPr>
            <a:spLocks noGrp="1"/>
          </p:cNvSpPr>
          <p:nvPr>
            <p:ph type="body" sz="half" idx="2"/>
          </p:nvPr>
        </p:nvSpPr>
        <p:spPr>
          <a:xfrm>
            <a:off x="457200" y="1237129"/>
            <a:ext cx="3200400" cy="5068075"/>
          </a:xfrm>
        </p:spPr>
        <p:txBody>
          <a:bodyPr>
            <a:normAutofit fontScale="62500" lnSpcReduction="20000"/>
          </a:bodyPr>
          <a:lstStyle/>
          <a:p>
            <a:pPr algn="just">
              <a:lnSpc>
                <a:spcPct val="107000"/>
              </a:lnSpc>
              <a:spcAft>
                <a:spcPts val="800"/>
              </a:spcAft>
            </a:pPr>
            <a:r>
              <a:rPr lang="en-IN" sz="1800" dirty="0">
                <a:effectLst/>
                <a:ea typeface="Calibri" panose="020F0502020204030204" pitchFamily="34" charset="0"/>
                <a:cs typeface="Times New Roman" panose="02020603050405020304" pitchFamily="18" charset="0"/>
              </a:rPr>
              <a:t>First, we created a Linear Regression Model for the main miso model (</a:t>
            </a:r>
            <a:r>
              <a:rPr lang="en-IN" sz="1800" dirty="0" err="1">
                <a:effectLst/>
                <a:ea typeface="Calibri" panose="020F0502020204030204" pitchFamily="34" charset="0"/>
                <a:cs typeface="Times New Roman" panose="02020603050405020304" pitchFamily="18" charset="0"/>
              </a:rPr>
              <a:t>miso_main</a:t>
            </a:r>
            <a:r>
              <a:rPr lang="en-IN" sz="1800" dirty="0">
                <a:effectLst/>
                <a:ea typeface="Calibri" panose="020F0502020204030204" pitchFamily="34" charset="0"/>
                <a:cs typeface="Times New Roman" panose="02020603050405020304" pitchFamily="18" charset="0"/>
              </a:rPr>
              <a:t>). </a:t>
            </a:r>
          </a:p>
          <a:p>
            <a:pPr algn="just">
              <a:lnSpc>
                <a:spcPct val="107000"/>
              </a:lnSpc>
              <a:spcAft>
                <a:spcPts val="800"/>
              </a:spcAft>
            </a:pPr>
            <a:r>
              <a:rPr lang="en-IN" sz="1800" dirty="0">
                <a:effectLst/>
                <a:ea typeface="Calibri" panose="020F0502020204030204" pitchFamily="34" charset="0"/>
                <a:cs typeface="Times New Roman" panose="02020603050405020304" pitchFamily="18" charset="0"/>
              </a:rPr>
              <a:t>When looking at the output of a statistical analysis we used a Gaussian (normal) distribution to model the response variable. The dispersion parameter for the Gaussian family is typically the variance of the response variable. In this case, the dispersion parameter is given as 6824.636.</a:t>
            </a:r>
          </a:p>
          <a:p>
            <a:pPr algn="just">
              <a:lnSpc>
                <a:spcPct val="107000"/>
              </a:lnSpc>
              <a:spcAft>
                <a:spcPts val="800"/>
              </a:spcAft>
            </a:pPr>
            <a:r>
              <a:rPr lang="en-IN" sz="1800" dirty="0">
                <a:effectLst/>
                <a:ea typeface="Calibri" panose="020F0502020204030204" pitchFamily="34" charset="0"/>
                <a:cs typeface="Times New Roman" panose="02020603050405020304" pitchFamily="18" charset="0"/>
              </a:rPr>
              <a:t>The null deviance and residual deviance are measures of the goodness of fit of the model. The null deviance represents the total variability in the response variable when no predictors are included in the model. The residual deviance represents the unexplained variability in the response variable after accounting for the predictors in the model. In this case, the null deviance is 87151479 and the residual deviance is 7008901. The difference between the two is used to check the accuracy. </a:t>
            </a:r>
          </a:p>
          <a:p>
            <a:pPr algn="just">
              <a:lnSpc>
                <a:spcPct val="107000"/>
              </a:lnSpc>
              <a:spcAft>
                <a:spcPts val="800"/>
              </a:spcAft>
            </a:pPr>
            <a:r>
              <a:rPr lang="en-IN" sz="1800" dirty="0">
                <a:effectLst/>
                <a:ea typeface="Calibri" panose="020F0502020204030204" pitchFamily="34" charset="0"/>
                <a:cs typeface="Times New Roman" panose="02020603050405020304" pitchFamily="18" charset="0"/>
              </a:rPr>
              <a:t>The AIC (Akaike Information Criterion) is a measure of the relative quality of a statistical model for a given set of data. It takes into account both the goodness of fit of the model and the complexity of the model (i.e., the number of parameters). A lower AIC value indicates a better model fit. In this case, the AIC value is 12021, which suggests a relatively good fit of the model to the data.</a:t>
            </a:r>
          </a:p>
          <a:p>
            <a:endParaRPr lang="en-IN" dirty="0"/>
          </a:p>
        </p:txBody>
      </p:sp>
      <p:pic>
        <p:nvPicPr>
          <p:cNvPr id="5" name="Content Placeholder 4">
            <a:extLst>
              <a:ext uri="{FF2B5EF4-FFF2-40B4-BE49-F238E27FC236}">
                <a16:creationId xmlns:a16="http://schemas.microsoft.com/office/drawing/2014/main" id="{564D456F-A850-9429-0445-C59572F97043}"/>
              </a:ext>
            </a:extLst>
          </p:cNvPr>
          <p:cNvPicPr>
            <a:picLocks noGrp="1" noChangeAspect="1"/>
          </p:cNvPicPr>
          <p:nvPr>
            <p:ph idx="1"/>
          </p:nvPr>
        </p:nvPicPr>
        <p:blipFill>
          <a:blip r:embed="rId2"/>
          <a:stretch>
            <a:fillRect/>
          </a:stretch>
        </p:blipFill>
        <p:spPr>
          <a:xfrm>
            <a:off x="4800600" y="1380564"/>
            <a:ext cx="6873948" cy="4204447"/>
          </a:xfrm>
          <a:prstGeom prst="rect">
            <a:avLst/>
          </a:prstGeom>
        </p:spPr>
      </p:pic>
    </p:spTree>
    <p:extLst>
      <p:ext uri="{BB962C8B-B14F-4D97-AF65-F5344CB8AC3E}">
        <p14:creationId xmlns:p14="http://schemas.microsoft.com/office/powerpoint/2010/main" val="92876406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5D2E32-CC25-C2E9-53C7-29617394D2F4}"/>
              </a:ext>
            </a:extLst>
          </p:cNvPr>
          <p:cNvPicPr>
            <a:picLocks noChangeAspect="1"/>
          </p:cNvPicPr>
          <p:nvPr/>
        </p:nvPicPr>
        <p:blipFill>
          <a:blip r:embed="rId2"/>
          <a:stretch>
            <a:fillRect/>
          </a:stretch>
        </p:blipFill>
        <p:spPr>
          <a:xfrm>
            <a:off x="293545" y="995680"/>
            <a:ext cx="5591712" cy="4475780"/>
          </a:xfrm>
          <a:prstGeom prst="rect">
            <a:avLst/>
          </a:prstGeom>
        </p:spPr>
      </p:pic>
      <p:pic>
        <p:nvPicPr>
          <p:cNvPr id="7" name="Picture 6">
            <a:extLst>
              <a:ext uri="{FF2B5EF4-FFF2-40B4-BE49-F238E27FC236}">
                <a16:creationId xmlns:a16="http://schemas.microsoft.com/office/drawing/2014/main" id="{32514C8A-3A22-AE47-D9D8-B2BCCF9574FC}"/>
              </a:ext>
            </a:extLst>
          </p:cNvPr>
          <p:cNvPicPr>
            <a:picLocks noChangeAspect="1"/>
          </p:cNvPicPr>
          <p:nvPr/>
        </p:nvPicPr>
        <p:blipFill>
          <a:blip r:embed="rId3"/>
          <a:stretch>
            <a:fillRect/>
          </a:stretch>
        </p:blipFill>
        <p:spPr>
          <a:xfrm>
            <a:off x="5885257" y="1046480"/>
            <a:ext cx="6289467" cy="4475780"/>
          </a:xfrm>
          <a:prstGeom prst="rect">
            <a:avLst/>
          </a:prstGeom>
        </p:spPr>
      </p:pic>
      <p:sp>
        <p:nvSpPr>
          <p:cNvPr id="4" name="TextBox 3">
            <a:extLst>
              <a:ext uri="{FF2B5EF4-FFF2-40B4-BE49-F238E27FC236}">
                <a16:creationId xmlns:a16="http://schemas.microsoft.com/office/drawing/2014/main" id="{8A386A4E-D0BA-228D-E943-716E3ECE85D3}"/>
              </a:ext>
            </a:extLst>
          </p:cNvPr>
          <p:cNvSpPr txBox="1"/>
          <p:nvPr/>
        </p:nvSpPr>
        <p:spPr>
          <a:xfrm>
            <a:off x="293545" y="375920"/>
            <a:ext cx="5487495" cy="646331"/>
          </a:xfrm>
          <a:prstGeom prst="rect">
            <a:avLst/>
          </a:prstGeom>
          <a:noFill/>
        </p:spPr>
        <p:txBody>
          <a:bodyPr wrap="square" rtlCol="0">
            <a:spAutoFit/>
          </a:bodyPr>
          <a:lstStyle/>
          <a:p>
            <a:r>
              <a:rPr lang="en-IN" dirty="0" err="1"/>
              <a:t>fit.cart</a:t>
            </a:r>
            <a:r>
              <a:rPr lang="en-IN" dirty="0"/>
              <a:t> &lt;- train(total~., data=store_cleaned_2, method="</a:t>
            </a:r>
            <a:r>
              <a:rPr lang="en-IN" dirty="0" err="1"/>
              <a:t>rpart</a:t>
            </a:r>
            <a:r>
              <a:rPr lang="en-IN" dirty="0"/>
              <a:t>",metric=metric, </a:t>
            </a:r>
            <a:r>
              <a:rPr lang="en-IN" dirty="0" err="1"/>
              <a:t>trControl</a:t>
            </a:r>
            <a:r>
              <a:rPr lang="en-IN" dirty="0"/>
              <a:t>=control)</a:t>
            </a:r>
          </a:p>
        </p:txBody>
      </p:sp>
      <p:sp>
        <p:nvSpPr>
          <p:cNvPr id="5" name="TextBox 4">
            <a:extLst>
              <a:ext uri="{FF2B5EF4-FFF2-40B4-BE49-F238E27FC236}">
                <a16:creationId xmlns:a16="http://schemas.microsoft.com/office/drawing/2014/main" id="{6363BAA5-4B61-1E9B-5F61-89C7551449AD}"/>
              </a:ext>
            </a:extLst>
          </p:cNvPr>
          <p:cNvSpPr txBox="1"/>
          <p:nvPr/>
        </p:nvSpPr>
        <p:spPr>
          <a:xfrm>
            <a:off x="5885256" y="382955"/>
            <a:ext cx="6134023" cy="646331"/>
          </a:xfrm>
          <a:prstGeom prst="rect">
            <a:avLst/>
          </a:prstGeom>
          <a:noFill/>
        </p:spPr>
        <p:txBody>
          <a:bodyPr wrap="square" rtlCol="0">
            <a:spAutoFit/>
          </a:bodyPr>
          <a:lstStyle/>
          <a:p>
            <a:r>
              <a:rPr lang="en-IN" dirty="0" err="1"/>
              <a:t>fit.rf</a:t>
            </a:r>
            <a:r>
              <a:rPr lang="en-IN" dirty="0"/>
              <a:t> &lt;- train(total~., data=store_cleaned_2, method="</a:t>
            </a:r>
            <a:r>
              <a:rPr lang="en-IN" dirty="0" err="1"/>
              <a:t>rf",metric</a:t>
            </a:r>
            <a:r>
              <a:rPr lang="en-IN" dirty="0"/>
              <a:t>=metric, </a:t>
            </a:r>
            <a:r>
              <a:rPr lang="en-IN" dirty="0" err="1"/>
              <a:t>trControl</a:t>
            </a:r>
            <a:r>
              <a:rPr lang="en-IN" dirty="0"/>
              <a:t>=control)</a:t>
            </a:r>
          </a:p>
        </p:txBody>
      </p:sp>
    </p:spTree>
    <p:extLst>
      <p:ext uri="{BB962C8B-B14F-4D97-AF65-F5344CB8AC3E}">
        <p14:creationId xmlns:p14="http://schemas.microsoft.com/office/powerpoint/2010/main" val="365271336"/>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CE9DBF-9B0D-B072-26FA-D255E4D9CD1C}"/>
              </a:ext>
            </a:extLst>
          </p:cNvPr>
          <p:cNvPicPr>
            <a:picLocks noChangeAspect="1"/>
          </p:cNvPicPr>
          <p:nvPr/>
        </p:nvPicPr>
        <p:blipFill>
          <a:blip r:embed="rId2"/>
          <a:stretch>
            <a:fillRect/>
          </a:stretch>
        </p:blipFill>
        <p:spPr>
          <a:xfrm>
            <a:off x="128148" y="797859"/>
            <a:ext cx="6613311" cy="4873812"/>
          </a:xfrm>
          <a:prstGeom prst="rect">
            <a:avLst/>
          </a:prstGeom>
        </p:spPr>
      </p:pic>
      <p:pic>
        <p:nvPicPr>
          <p:cNvPr id="3" name="Picture 2">
            <a:extLst>
              <a:ext uri="{FF2B5EF4-FFF2-40B4-BE49-F238E27FC236}">
                <a16:creationId xmlns:a16="http://schemas.microsoft.com/office/drawing/2014/main" id="{FCC79B03-2415-5461-CD5E-F97DBD8085BE}"/>
              </a:ext>
            </a:extLst>
          </p:cNvPr>
          <p:cNvPicPr>
            <a:picLocks noChangeAspect="1"/>
          </p:cNvPicPr>
          <p:nvPr/>
        </p:nvPicPr>
        <p:blipFill>
          <a:blip r:embed="rId3"/>
          <a:stretch>
            <a:fillRect/>
          </a:stretch>
        </p:blipFill>
        <p:spPr>
          <a:xfrm>
            <a:off x="6422639" y="797859"/>
            <a:ext cx="5480334" cy="4769223"/>
          </a:xfrm>
          <a:prstGeom prst="rect">
            <a:avLst/>
          </a:prstGeom>
        </p:spPr>
      </p:pic>
      <p:pic>
        <p:nvPicPr>
          <p:cNvPr id="4" name="Picture 3">
            <a:extLst>
              <a:ext uri="{FF2B5EF4-FFF2-40B4-BE49-F238E27FC236}">
                <a16:creationId xmlns:a16="http://schemas.microsoft.com/office/drawing/2014/main" id="{8EC779F7-D582-50E2-CBB6-AD0F68711FB5}"/>
              </a:ext>
            </a:extLst>
          </p:cNvPr>
          <p:cNvPicPr>
            <a:picLocks noChangeAspect="1"/>
          </p:cNvPicPr>
          <p:nvPr/>
        </p:nvPicPr>
        <p:blipFill>
          <a:blip r:embed="rId3"/>
          <a:stretch>
            <a:fillRect/>
          </a:stretch>
        </p:blipFill>
        <p:spPr>
          <a:xfrm>
            <a:off x="6422639" y="797859"/>
            <a:ext cx="5538708" cy="4820023"/>
          </a:xfrm>
          <a:prstGeom prst="rect">
            <a:avLst/>
          </a:prstGeom>
        </p:spPr>
      </p:pic>
      <p:sp>
        <p:nvSpPr>
          <p:cNvPr id="5" name="TextBox 4">
            <a:extLst>
              <a:ext uri="{FF2B5EF4-FFF2-40B4-BE49-F238E27FC236}">
                <a16:creationId xmlns:a16="http://schemas.microsoft.com/office/drawing/2014/main" id="{0399E00D-A80B-66C8-E356-44D0CBF1C75B}"/>
              </a:ext>
            </a:extLst>
          </p:cNvPr>
          <p:cNvSpPr txBox="1"/>
          <p:nvPr/>
        </p:nvSpPr>
        <p:spPr>
          <a:xfrm>
            <a:off x="121920" y="192604"/>
            <a:ext cx="6146800" cy="646331"/>
          </a:xfrm>
          <a:prstGeom prst="rect">
            <a:avLst/>
          </a:prstGeom>
          <a:noFill/>
        </p:spPr>
        <p:txBody>
          <a:bodyPr wrap="square" rtlCol="0">
            <a:spAutoFit/>
          </a:bodyPr>
          <a:lstStyle/>
          <a:p>
            <a:r>
              <a:rPr lang="en-IN" dirty="0" err="1"/>
              <a:t>fit.knn</a:t>
            </a:r>
            <a:r>
              <a:rPr lang="en-IN" dirty="0"/>
              <a:t> &lt;- train(total~., data=store_cleaned_2, method="</a:t>
            </a:r>
            <a:r>
              <a:rPr lang="en-IN" dirty="0" err="1"/>
              <a:t>knn</a:t>
            </a:r>
            <a:r>
              <a:rPr lang="en-IN" dirty="0"/>
              <a:t>",metric=metric, </a:t>
            </a:r>
            <a:r>
              <a:rPr lang="en-IN" dirty="0" err="1"/>
              <a:t>trControl</a:t>
            </a:r>
            <a:r>
              <a:rPr lang="en-IN" dirty="0"/>
              <a:t>=control)</a:t>
            </a:r>
          </a:p>
        </p:txBody>
      </p:sp>
    </p:spTree>
    <p:extLst>
      <p:ext uri="{BB962C8B-B14F-4D97-AF65-F5344CB8AC3E}">
        <p14:creationId xmlns:p14="http://schemas.microsoft.com/office/powerpoint/2010/main" val="1599111270"/>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C903F94E-C3E9-AD45-7F6B-F1B06F27BAD9}"/>
              </a:ext>
            </a:extLst>
          </p:cNvPr>
          <p:cNvSpPr>
            <a:spLocks noGrp="1"/>
          </p:cNvSpPr>
          <p:nvPr>
            <p:ph type="title"/>
          </p:nvPr>
        </p:nvSpPr>
        <p:spPr>
          <a:xfrm>
            <a:off x="477078" y="516836"/>
            <a:ext cx="3100136" cy="864924"/>
          </a:xfrm>
        </p:spPr>
        <p:txBody>
          <a:bodyPr>
            <a:normAutofit/>
          </a:bodyPr>
          <a:lstStyle/>
          <a:p>
            <a:r>
              <a:rPr lang="en-IN" sz="3600" dirty="0"/>
              <a:t>Conclusion </a:t>
            </a:r>
          </a:p>
        </p:txBody>
      </p:sp>
      <p:cxnSp>
        <p:nvCxnSpPr>
          <p:cNvPr id="14" name="Straight Connector 13">
            <a:extLst>
              <a:ext uri="{FF2B5EF4-FFF2-40B4-BE49-F238E27FC236}">
                <a16:creationId xmlns:a16="http://schemas.microsoft.com/office/drawing/2014/main" id="{5A0A5CF6-407C-4691-8122-49DF69D002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0927" y="2633962"/>
            <a:ext cx="274320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5">
            <a:extLst>
              <a:ext uri="{FF2B5EF4-FFF2-40B4-BE49-F238E27FC236}">
                <a16:creationId xmlns:a16="http://schemas.microsoft.com/office/drawing/2014/main" id="{A9C0EFEC-3B95-081E-FED2-1C79CEB40DC1}"/>
              </a:ext>
            </a:extLst>
          </p:cNvPr>
          <p:cNvSpPr>
            <a:spLocks noGrp="1"/>
          </p:cNvSpPr>
          <p:nvPr>
            <p:ph idx="1"/>
          </p:nvPr>
        </p:nvSpPr>
        <p:spPr>
          <a:xfrm>
            <a:off x="484724" y="1745976"/>
            <a:ext cx="3084844" cy="3366047"/>
          </a:xfrm>
        </p:spPr>
        <p:txBody>
          <a:bodyPr>
            <a:normAutofit/>
          </a:bodyPr>
          <a:lstStyle/>
          <a:p>
            <a:pPr>
              <a:buFont typeface="Arial" panose="020B0604020202020204" pitchFamily="34" charset="0"/>
              <a:buChar char="•"/>
            </a:pPr>
            <a:r>
              <a:rPr lang="en-IN" sz="1100" dirty="0"/>
              <a:t>Based on our Analysis we conclude that the sales for the departmental store will eventually increase and we believe that the demand and supply for the Goods and Services will be at large.</a:t>
            </a:r>
          </a:p>
          <a:p>
            <a:pPr>
              <a:buFont typeface="Arial" panose="020B0604020202020204" pitchFamily="34" charset="0"/>
              <a:buChar char="•"/>
            </a:pPr>
            <a:r>
              <a:rPr lang="en-IN" sz="1100" dirty="0"/>
              <a:t>Further, we suggest the Departmental Store to try focus on marketing the products and shipping and distributing the same equally across all the Locations. </a:t>
            </a:r>
          </a:p>
          <a:p>
            <a:pPr>
              <a:buFont typeface="Arial" panose="020B0604020202020204" pitchFamily="34" charset="0"/>
              <a:buChar char="•"/>
            </a:pPr>
            <a:r>
              <a:rPr lang="en-IN" sz="1100" dirty="0"/>
              <a:t>The Departmental Store should also focus on Hiring the Employees and also try to make changes to the existing products by segregating the same products according to the demands of the public.</a:t>
            </a:r>
          </a:p>
          <a:p>
            <a:pPr>
              <a:buFont typeface="Arial" panose="020B0604020202020204" pitchFamily="34" charset="0"/>
              <a:buChar char="•"/>
            </a:pPr>
            <a:r>
              <a:rPr lang="en-IN" sz="1100" dirty="0"/>
              <a:t>At last, we conclude that the Departmental Store will run good business once they start targeting the Customer policies and concentrate on increasing sales of different categories.</a:t>
            </a:r>
          </a:p>
          <a:p>
            <a:endParaRPr lang="en-IN" sz="1100" dirty="0"/>
          </a:p>
        </p:txBody>
      </p:sp>
      <p:pic>
        <p:nvPicPr>
          <p:cNvPr id="19" name="Picture 7" descr="Light bulb on yellow background with sketched light beams and cord">
            <a:extLst>
              <a:ext uri="{FF2B5EF4-FFF2-40B4-BE49-F238E27FC236}">
                <a16:creationId xmlns:a16="http://schemas.microsoft.com/office/drawing/2014/main" id="{3AA9E865-6A2E-D390-0722-38913142DDEC}"/>
              </a:ext>
            </a:extLst>
          </p:cNvPr>
          <p:cNvPicPr>
            <a:picLocks noChangeAspect="1"/>
          </p:cNvPicPr>
          <p:nvPr/>
        </p:nvPicPr>
        <p:blipFill rotWithShape="1">
          <a:blip r:embed="rId2"/>
          <a:srcRect l="27261"/>
          <a:stretch/>
        </p:blipFill>
        <p:spPr>
          <a:xfrm>
            <a:off x="4075043" y="10"/>
            <a:ext cx="8111272" cy="6857990"/>
          </a:xfrm>
          <a:prstGeom prst="rect">
            <a:avLst/>
          </a:prstGeom>
        </p:spPr>
      </p:pic>
    </p:spTree>
    <p:extLst>
      <p:ext uri="{BB962C8B-B14F-4D97-AF65-F5344CB8AC3E}">
        <p14:creationId xmlns:p14="http://schemas.microsoft.com/office/powerpoint/2010/main" val="1707565985"/>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9">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1" name="Rectangle 11">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32" name="Straight Connector 13">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3" name="Rectangle 15">
            <a:extLst>
              <a:ext uri="{FF2B5EF4-FFF2-40B4-BE49-F238E27FC236}">
                <a16:creationId xmlns:a16="http://schemas.microsoft.com/office/drawing/2014/main" id="{5AE6C737-FF55-4064-94B7-0B21D2EB6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708EEB-5A31-38CD-4FD2-D8321EEF4662}"/>
              </a:ext>
            </a:extLst>
          </p:cNvPr>
          <p:cNvSpPr>
            <a:spLocks noGrp="1"/>
          </p:cNvSpPr>
          <p:nvPr>
            <p:ph type="title"/>
          </p:nvPr>
        </p:nvSpPr>
        <p:spPr>
          <a:xfrm>
            <a:off x="6730000" y="639097"/>
            <a:ext cx="4813072" cy="3686015"/>
          </a:xfrm>
        </p:spPr>
        <p:txBody>
          <a:bodyPr vert="horz" lIns="91440" tIns="45720" rIns="91440" bIns="45720" rtlCol="0" anchor="b">
            <a:normAutofit/>
          </a:bodyPr>
          <a:lstStyle/>
          <a:p>
            <a:r>
              <a:rPr lang="en-US" sz="8000" dirty="0">
                <a:solidFill>
                  <a:schemeClr val="tx1">
                    <a:lumMod val="85000"/>
                    <a:lumOff val="15000"/>
                  </a:schemeClr>
                </a:solidFill>
              </a:rPr>
              <a:t>Thank you </a:t>
            </a:r>
          </a:p>
        </p:txBody>
      </p:sp>
      <p:pic>
        <p:nvPicPr>
          <p:cNvPr id="34" name="Graphic 6" descr="Handshake">
            <a:extLst>
              <a:ext uri="{FF2B5EF4-FFF2-40B4-BE49-F238E27FC236}">
                <a16:creationId xmlns:a16="http://schemas.microsoft.com/office/drawing/2014/main" id="{F4BFBC52-0C81-ABB2-D575-28830EEC87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7921" y="640081"/>
            <a:ext cx="5054156" cy="5054156"/>
          </a:xfrm>
          <a:prstGeom prst="rect">
            <a:avLst/>
          </a:prstGeom>
        </p:spPr>
      </p:pic>
      <p:cxnSp>
        <p:nvCxnSpPr>
          <p:cNvPr id="35" name="Straight Connector 17">
            <a:extLst>
              <a:ext uri="{FF2B5EF4-FFF2-40B4-BE49-F238E27FC236}">
                <a16:creationId xmlns:a16="http://schemas.microsoft.com/office/drawing/2014/main" id="{6B5B1DD8-6224-4137-8621-32982B00F9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343400"/>
            <a:ext cx="43891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8218D9F-38B6-4AE0-9051-5434D19A5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2D3DCA99-84AF-487A-BF72-91C5FA6B0B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4214787145"/>
      </p:ext>
    </p:extLst>
  </p:cSld>
  <p:clrMapOvr>
    <a:masterClrMapping/>
  </p:clrMapOvr>
  <p:transition spd="slow">
    <p:wipe/>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nded Edge">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17779" dir="5400000" rotWithShape="0">
              <a:srgbClr val="000000">
                <a:alpha val="4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470</TotalTime>
  <Words>1637</Words>
  <Application>Microsoft Office PowerPoint</Application>
  <PresentationFormat>Widescreen</PresentationFormat>
  <Paragraphs>56</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Cavolini</vt:lpstr>
      <vt:lpstr>Times New Roman</vt:lpstr>
      <vt:lpstr>Retrospect</vt:lpstr>
      <vt:lpstr>Final Project on Departmental Store</vt:lpstr>
      <vt:lpstr>Introduction</vt:lpstr>
      <vt:lpstr>Reading the Dataset and Treating the Missing Values</vt:lpstr>
      <vt:lpstr>Cleaned Dataset</vt:lpstr>
      <vt:lpstr>Factorization and str for the cleaned dataset </vt:lpstr>
      <vt:lpstr>Count Plot</vt:lpstr>
      <vt:lpstr>Scatter and Box plots</vt:lpstr>
      <vt:lpstr>Bar Plot for Gender and Category</vt:lpstr>
      <vt:lpstr>Bar Plot for Customer Type and Mode of Payment </vt:lpstr>
      <vt:lpstr>Bar Plot for Location and Category</vt:lpstr>
      <vt:lpstr>Bar Plot for Gender and Location</vt:lpstr>
      <vt:lpstr>Pie Chart for Total Sales with a Table</vt:lpstr>
      <vt:lpstr>Scatter Plot with Trend Line</vt:lpstr>
      <vt:lpstr>SISO Model</vt:lpstr>
      <vt:lpstr>MISO Model</vt:lpstr>
      <vt:lpstr>PowerPoint Presentation</vt:lpstr>
      <vt:lpstr>PowerPoint Presentation</vt:lpstr>
      <vt:lpstr>Pairs Plot</vt:lpstr>
      <vt:lpstr>Linear Regression Model</vt:lpstr>
      <vt:lpstr>PowerPoint Presentation</vt:lpstr>
      <vt:lpstr>PowerPoint Presentation</vt:lpstr>
      <vt:lpstr>Conclusion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Stats Final Project on the Departmental Store</dc:title>
  <dc:creator>bhanukesh b</dc:creator>
  <cp:lastModifiedBy>Sravan Tallam</cp:lastModifiedBy>
  <cp:revision>47</cp:revision>
  <dcterms:created xsi:type="dcterms:W3CDTF">2023-05-01T00:27:44Z</dcterms:created>
  <dcterms:modified xsi:type="dcterms:W3CDTF">2025-04-10T00:28:27Z</dcterms:modified>
</cp:coreProperties>
</file>